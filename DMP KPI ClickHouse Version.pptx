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3" r:id="rId2"/>
  </p:sldMasterIdLst>
  <p:notesMasterIdLst>
    <p:notesMasterId r:id="rId15"/>
  </p:notesMasterIdLst>
  <p:sldIdLst>
    <p:sldId id="302" r:id="rId3"/>
    <p:sldId id="291" r:id="rId4"/>
    <p:sldId id="319" r:id="rId5"/>
    <p:sldId id="321" r:id="rId6"/>
    <p:sldId id="320" r:id="rId7"/>
    <p:sldId id="322" r:id="rId8"/>
    <p:sldId id="323" r:id="rId9"/>
    <p:sldId id="324" r:id="rId10"/>
    <p:sldId id="325" r:id="rId11"/>
    <p:sldId id="326" r:id="rId12"/>
    <p:sldId id="328" r:id="rId13"/>
    <p:sldId id="327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0430" autoAdjust="0"/>
  </p:normalViewPr>
  <p:slideViewPr>
    <p:cSldViewPr snapToGrid="0">
      <p:cViewPr>
        <p:scale>
          <a:sx n="50" d="100"/>
          <a:sy n="50" d="100"/>
        </p:scale>
        <p:origin x="1891" y="6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6CCF8-CF1C-46A7-8107-B779D352A20F}" type="datetimeFigureOut">
              <a:rPr lang="zh-TW" altLang="en-US" smtClean="0"/>
              <a:t>2026/4/16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9A8D19-8029-4D16-91B6-C84DA777A2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1705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在行式儲存（</a:t>
            </a:r>
            <a:r>
              <a:rPr lang="en-US" altLang="zh-TW" b="1" dirty="0"/>
              <a:t>MSSQL</a:t>
            </a:r>
            <a:r>
              <a:rPr lang="zh-TW" altLang="en-US" b="1" dirty="0"/>
              <a:t>）中：</a:t>
            </a:r>
            <a:r>
              <a:rPr lang="zh-TW" altLang="en-US" dirty="0"/>
              <a:t> 系統很笨，它必須把每一行資料完整搬出來，包含你根本不需要的</a:t>
            </a:r>
            <a:r>
              <a:rPr lang="en-US" altLang="zh-TW" dirty="0"/>
              <a:t>『</a:t>
            </a:r>
            <a:r>
              <a:rPr lang="zh-TW" altLang="en-US" dirty="0"/>
              <a:t>姓名</a:t>
            </a:r>
            <a:r>
              <a:rPr lang="en-US" altLang="zh-TW" dirty="0"/>
              <a:t>』</a:t>
            </a:r>
            <a:r>
              <a:rPr lang="zh-TW" altLang="en-US" dirty="0"/>
              <a:t>。就像圖中顯示的，它讀取了 </a:t>
            </a:r>
            <a:r>
              <a:rPr lang="en-US" altLang="zh-TW" dirty="0"/>
              <a:t>12 </a:t>
            </a:r>
            <a:r>
              <a:rPr lang="zh-TW" altLang="en-US" dirty="0"/>
              <a:t>個數值，其中一半是不需要的欄位。</a:t>
            </a:r>
          </a:p>
          <a:p>
            <a:r>
              <a:rPr lang="zh-TW" altLang="en-US" b="1" dirty="0"/>
              <a:t>在列式儲存（</a:t>
            </a:r>
            <a:r>
              <a:rPr lang="en-US" altLang="zh-TW" b="1" dirty="0" err="1"/>
              <a:t>ClickHouse</a:t>
            </a:r>
            <a:r>
              <a:rPr lang="zh-TW" altLang="en-US" b="1" dirty="0"/>
              <a:t>）中：</a:t>
            </a:r>
            <a:r>
              <a:rPr lang="zh-TW" altLang="en-US" dirty="0"/>
              <a:t> 它非常聰明，磁碟指針直接跳過 </a:t>
            </a:r>
            <a:r>
              <a:rPr lang="en-US" altLang="zh-TW" dirty="0"/>
              <a:t>ID </a:t>
            </a:r>
            <a:r>
              <a:rPr lang="zh-TW" altLang="en-US" dirty="0"/>
              <a:t>和姓名，只抓取</a:t>
            </a:r>
            <a:r>
              <a:rPr lang="en-US" altLang="zh-TW" dirty="0"/>
              <a:t>『</a:t>
            </a:r>
            <a:r>
              <a:rPr lang="zh-TW" altLang="en-US" dirty="0"/>
              <a:t>部門</a:t>
            </a:r>
            <a:r>
              <a:rPr lang="en-US" altLang="zh-TW" dirty="0"/>
              <a:t>』</a:t>
            </a:r>
            <a:r>
              <a:rPr lang="zh-TW" altLang="en-US" dirty="0"/>
              <a:t>和</a:t>
            </a:r>
            <a:r>
              <a:rPr lang="en-US" altLang="zh-TW" dirty="0"/>
              <a:t>『</a:t>
            </a:r>
            <a:r>
              <a:rPr lang="zh-TW" altLang="en-US" dirty="0"/>
              <a:t>薪水</a:t>
            </a:r>
            <a:r>
              <a:rPr lang="en-US" altLang="zh-TW" dirty="0"/>
              <a:t>』</a:t>
            </a:r>
            <a:r>
              <a:rPr lang="zh-TW" altLang="en-US" dirty="0"/>
              <a:t>這兩條直線。讀取量瞬間從 </a:t>
            </a:r>
            <a:r>
              <a:rPr lang="en-US" altLang="zh-TW" dirty="0"/>
              <a:t>12 </a:t>
            </a:r>
            <a:r>
              <a:rPr lang="zh-TW" altLang="en-US" dirty="0"/>
              <a:t>變成了 </a:t>
            </a:r>
            <a:r>
              <a:rPr lang="en-US" altLang="zh-TW" dirty="0"/>
              <a:t>6</a:t>
            </a:r>
            <a:r>
              <a:rPr lang="zh-TW" altLang="en-US" dirty="0"/>
              <a:t>，</a:t>
            </a:r>
            <a:r>
              <a:rPr lang="en-US" altLang="zh-TW" b="1" dirty="0"/>
              <a:t>I/O </a:t>
            </a:r>
            <a:r>
              <a:rPr lang="zh-TW" altLang="en-US" b="1" dirty="0"/>
              <a:t>負擔直接減半</a:t>
            </a:r>
            <a:r>
              <a:rPr lang="zh-TW" altLang="en-US" dirty="0"/>
              <a:t>！</a:t>
            </a:r>
          </a:p>
          <a:p>
            <a:r>
              <a:rPr lang="zh-TW" altLang="en-US" dirty="0"/>
              <a:t>日常交易、修改單筆資料，</a:t>
            </a:r>
            <a:r>
              <a:rPr lang="en-US" altLang="zh-TW" b="1" dirty="0"/>
              <a:t>MSSQL</a:t>
            </a:r>
            <a:r>
              <a:rPr lang="zh-TW" altLang="en-US" dirty="0"/>
              <a:t>可保證資料完整</a:t>
            </a:r>
            <a:br>
              <a:rPr lang="en-US" altLang="zh-TW" dirty="0"/>
            </a:br>
            <a:r>
              <a:rPr lang="zh-TW" altLang="en-US" dirty="0"/>
              <a:t>若是海量數據的報表分析，</a:t>
            </a:r>
            <a:r>
              <a:rPr lang="en-US" altLang="zh-TW" b="1" dirty="0" err="1"/>
              <a:t>ClickHouse</a:t>
            </a:r>
            <a:r>
              <a:rPr lang="zh-TW" altLang="en-US" dirty="0"/>
              <a:t> 這種</a:t>
            </a:r>
            <a:r>
              <a:rPr lang="en-US" altLang="zh-TW" dirty="0"/>
              <a:t>『</a:t>
            </a:r>
            <a:r>
              <a:rPr lang="zh-TW" altLang="en-US" dirty="0"/>
              <a:t>不讀取非目標欄位</a:t>
            </a:r>
            <a:r>
              <a:rPr lang="en-US" altLang="zh-TW" dirty="0"/>
              <a:t>』</a:t>
            </a:r>
            <a:r>
              <a:rPr lang="zh-TW" altLang="en-US" dirty="0"/>
              <a:t>的列式設計，效能會更好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9A8D19-8029-4D16-91B6-C84DA777A27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002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DB215-8FCE-B638-3E3D-2E4E6FAD2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488E54B-A162-D638-BE1F-5BA9961DA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BC72251-DBA6-4E02-7021-AF8B4C662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F3465-7E41-4737-98B5-99A32BF80602}" type="datetimeFigureOut">
              <a:rPr lang="zh-TW" altLang="en-US" smtClean="0"/>
              <a:t>2026/4/14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8B2589B-4298-A9EC-08D6-1830687D4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BEB9024-C56A-52CC-D577-E3A0C58F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A4404-9F28-4575-8686-E976E04C65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83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B5D3E6-B128-ECFC-CDB8-C5B6984CA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C6D265-EFB8-DFB9-CCA3-A6AA18095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089947-6BBB-AD11-2932-1F70EEC9A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F3465-7E41-4737-98B5-99A32BF80602}" type="datetimeFigureOut">
              <a:rPr lang="zh-TW" altLang="en-US" smtClean="0"/>
              <a:t>2026/4/14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AA46451-B032-906A-5134-BE7F12BDE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487CD22-0DB2-03D1-93C9-FE82741CC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A4404-9F28-4575-8686-E976E04C65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741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003D5E-E387-FBC9-4B16-9623E33C8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36BE1A4-8360-B299-2D9D-F34B6123B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87C041-FAF7-C539-3C2B-D102CA98D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F3465-7E41-4737-98B5-99A32BF80602}" type="datetimeFigureOut">
              <a:rPr lang="zh-TW" altLang="en-US" smtClean="0"/>
              <a:t>2026/4/14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45A82D-498D-9012-D30B-AFEEE9AAC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A0426C1-00F1-3CA9-8A65-05E9026D3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A4404-9F28-4575-8686-E976E04C65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1798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E3D111-97D5-BF80-8962-FB9A9F3C5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122160-1170-C264-BD94-2D651B8B81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FB44198-04C2-1453-EC33-BE2312917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1E66C2C-527A-E07D-CC72-93A680F9E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F3465-7E41-4737-98B5-99A32BF80602}" type="datetimeFigureOut">
              <a:rPr lang="zh-TW" altLang="en-US" smtClean="0"/>
              <a:t>2026/4/14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08CE98D-939C-FD3B-29A7-D690367DB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6B12E09-EB7A-B2E0-1067-3408C4704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A4404-9F28-4575-8686-E976E04C65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2182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B0C8E6-54D2-B531-5714-C3694092D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2EC731F-FF1A-9118-C91D-901D08A44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6CF2B63-1996-E2A7-A763-D84C3311E1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B88BE58-E4C1-B511-2DD7-01A124D58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DA362B1-3D9C-A4FD-6B2A-4E4F3F8772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6EE072B-CB1E-8608-A071-618BFFF7D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F3465-7E41-4737-98B5-99A32BF80602}" type="datetimeFigureOut">
              <a:rPr lang="zh-TW" altLang="en-US" smtClean="0"/>
              <a:t>2026/4/14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F1BC686-3A6A-3983-1B97-3959DBFBC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30F873F-0A4A-7019-0EA5-B5BE058EB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A4404-9F28-4575-8686-E976E04C65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3290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E19979-4818-8CD9-72A4-E7193C475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B46BA09-2CEA-F992-2AFF-CEA8B9E53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F3465-7E41-4737-98B5-99A32BF80602}" type="datetimeFigureOut">
              <a:rPr lang="zh-TW" altLang="en-US" smtClean="0"/>
              <a:t>2026/4/14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4017522-616A-4C77-5AE5-25811169B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3585366-C62E-F9D2-A78A-98EB340FF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A4404-9F28-4575-8686-E976E04C65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485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2A2B77C-32A7-583C-2F7B-71443629C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F3465-7E41-4737-98B5-99A32BF80602}" type="datetimeFigureOut">
              <a:rPr lang="zh-TW" altLang="en-US" smtClean="0"/>
              <a:t>2026/4/14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5577E65-AEEF-895F-9E66-887F20723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9D95EF-3B73-2F25-FF56-1C8A7D3E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A4404-9F28-4575-8686-E976E04C65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1221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2C2658-A9E5-9D28-C6EC-36CDE0D90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EDE411-59D7-90D4-293E-67B01F5CD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DC81460-1322-ABA9-4B68-D113D52CD3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56906F0-469F-FC9A-55D4-BF6AE954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F3465-7E41-4737-98B5-99A32BF80602}" type="datetimeFigureOut">
              <a:rPr lang="zh-TW" altLang="en-US" smtClean="0"/>
              <a:t>2026/4/14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0D4C587-3AE6-B913-99EC-00F1C9C16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34AF0C2-5A2F-37E7-41A5-CDD041A23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A4404-9F28-4575-8686-E976E04C65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6073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85C907-063F-6389-3F0F-2FE9EAE03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CD568E7-9024-DFCA-BA1C-2B4EBAC234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7E3F78D-33F4-AFDD-CD43-37B61640D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9036283-2E94-1795-9E47-CE112B64B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F3465-7E41-4737-98B5-99A32BF80602}" type="datetimeFigureOut">
              <a:rPr lang="zh-TW" altLang="en-US" smtClean="0"/>
              <a:t>2026/4/14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ECD45C0-9938-B0C1-6B23-DD30159D6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1A8F482-45C4-2A88-0B46-571EC6F04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A4404-9F28-4575-8686-E976E04C65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8798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AF6830-4BBA-3AD2-0B59-8639CD7B1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2C13AFF-D1AB-296F-EDF7-8B7D318D2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B6519C9-DB50-B0F8-8CE4-3160BF331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F3465-7E41-4737-98B5-99A32BF80602}" type="datetimeFigureOut">
              <a:rPr lang="zh-TW" altLang="en-US" smtClean="0"/>
              <a:t>2026/4/14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DA1206C-E5F7-EC1F-6EAB-15DA3A93D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2C5453D-BCE0-D347-F0D6-4D3CA0244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A4404-9F28-4575-8686-E976E04C65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7226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A65F4D9-309D-7A6A-04EA-F95BE0B2AE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9638068-73E6-4E8A-B48E-A6A0EF221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9666B7-1F66-A86D-DD0D-AEE4434D9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F3465-7E41-4737-98B5-99A32BF80602}" type="datetimeFigureOut">
              <a:rPr lang="zh-TW" altLang="en-US" smtClean="0"/>
              <a:t>2026/4/14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1B6C1B-EC37-2D80-43AA-6A56AC833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7EE569-CF50-4019-9E24-397E0C088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A4404-9F28-4575-8686-E976E04C65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6890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ing Page_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5F44435C-4EDB-4AB4-AAD6-08BF8682BA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099372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4600" b="0">
                <a:solidFill>
                  <a:schemeClr val="tx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r>
              <a:rPr lang="en-US" altLang="zh-TW"/>
              <a:t>Smarter. Greener. Together. </a:t>
            </a:r>
            <a:br>
              <a:rPr lang="en-US"/>
            </a:br>
            <a:endParaRPr lang="en-US"/>
          </a:p>
        </p:txBody>
      </p:sp>
      <p:sp>
        <p:nvSpPr>
          <p:cNvPr id="6" name="文字版面配置區 4">
            <a:extLst>
              <a:ext uri="{FF2B5EF4-FFF2-40B4-BE49-F238E27FC236}">
                <a16:creationId xmlns:a16="http://schemas.microsoft.com/office/drawing/2014/main" id="{38C78CAC-0A95-4D70-9EAA-CE96A16F9E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5370" y="60183"/>
            <a:ext cx="2133446" cy="38042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TW"/>
              <a:t>Ending </a:t>
            </a:r>
            <a:r>
              <a:rPr lang="en-US" altLang="zh-TW" err="1"/>
              <a:t>Page_White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68288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_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1E9EBA-B88C-4731-B44A-419865607F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118615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460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/>
              <a:t>Presentation Title Goes Here</a:t>
            </a:r>
            <a:br>
              <a:rPr lang="en-US" altLang="zh-TW"/>
            </a:br>
            <a:r>
              <a:rPr lang="en-US" altLang="zh-TW"/>
              <a:t>Maximum 2 Lines (32-46pt)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C9BD8EC-F37F-4F94-8712-797CC1161E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6647" y="3015629"/>
            <a:ext cx="9144000" cy="137010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  <a:latin typeface="+mj-lt"/>
                <a:ea typeface="+mj-ea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altLang="zh-TW" sz="3000"/>
              <a:t>Presentation Subtitle Goes Here</a:t>
            </a:r>
            <a:br>
              <a:rPr lang="en-US" altLang="zh-TW" sz="3000"/>
            </a:br>
            <a:r>
              <a:rPr lang="en-US" altLang="zh-TW" sz="3000"/>
              <a:t>Maximum 2 Lines (24-32pt)</a:t>
            </a:r>
          </a:p>
        </p:txBody>
      </p:sp>
      <p:sp>
        <p:nvSpPr>
          <p:cNvPr id="11" name="頁尾版面配置區 4">
            <a:extLst>
              <a:ext uri="{FF2B5EF4-FFF2-40B4-BE49-F238E27FC236}">
                <a16:creationId xmlns:a16="http://schemas.microsoft.com/office/drawing/2014/main" id="{38A83012-CC3B-47DF-9FCA-A1115F39D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8612" y="5739683"/>
            <a:ext cx="5707316" cy="2183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 sz="1800"/>
              <a:t>Presenter</a:t>
            </a:r>
            <a:r>
              <a:rPr lang="zh-TW" altLang="en-US" sz="1800"/>
              <a:t> </a:t>
            </a:r>
            <a:r>
              <a:rPr lang="en-US" altLang="zh-TW" sz="1800"/>
              <a:t>Name</a:t>
            </a:r>
            <a:r>
              <a:rPr lang="zh-TW" altLang="en-US" sz="1800"/>
              <a:t>｜</a:t>
            </a:r>
            <a:r>
              <a:rPr lang="en-US" altLang="zh-TW" sz="1800"/>
              <a:t>Department</a:t>
            </a:r>
            <a:r>
              <a:rPr lang="zh-TW" altLang="en-US" sz="1800"/>
              <a:t>｜</a:t>
            </a:r>
            <a:r>
              <a:rPr lang="en-US" altLang="zh-TW" sz="1800"/>
              <a:t>MM/DD/YYYY</a:t>
            </a:r>
          </a:p>
        </p:txBody>
      </p:sp>
      <p:sp>
        <p:nvSpPr>
          <p:cNvPr id="9" name="文字版面配置區 4">
            <a:extLst>
              <a:ext uri="{FF2B5EF4-FFF2-40B4-BE49-F238E27FC236}">
                <a16:creationId xmlns:a16="http://schemas.microsoft.com/office/drawing/2014/main" id="{C5F15596-5511-4524-8143-5414A6D0A4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4219" y="738191"/>
            <a:ext cx="2133446" cy="38042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TW"/>
              <a:t>Cover </a:t>
            </a:r>
            <a:r>
              <a:rPr lang="en-US" altLang="zh-TW" err="1"/>
              <a:t>Page_White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1543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_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1E9EBA-B88C-4731-B44A-419865607F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118615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460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/>
              <a:t>Presentation Title Goes Here</a:t>
            </a:r>
            <a:br>
              <a:rPr lang="en-US" altLang="zh-TW"/>
            </a:br>
            <a:r>
              <a:rPr lang="en-US" altLang="zh-TW"/>
              <a:t>Maximum 2 Lines (32-46pt)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C9BD8EC-F37F-4F94-8712-797CC1161E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6647" y="3015629"/>
            <a:ext cx="9144000" cy="137010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  <a:latin typeface="+mj-lt"/>
                <a:ea typeface="+mj-ea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altLang="zh-TW" sz="3000"/>
              <a:t>Presentation Subtitle Goes Here</a:t>
            </a:r>
            <a:br>
              <a:rPr lang="en-US" altLang="zh-TW" sz="3000"/>
            </a:br>
            <a:r>
              <a:rPr lang="en-US" altLang="zh-TW" sz="3000"/>
              <a:t>Maximum 2 Lines (24-32pt)</a:t>
            </a:r>
          </a:p>
        </p:txBody>
      </p:sp>
      <p:sp>
        <p:nvSpPr>
          <p:cNvPr id="11" name="頁尾版面配置區 4">
            <a:extLst>
              <a:ext uri="{FF2B5EF4-FFF2-40B4-BE49-F238E27FC236}">
                <a16:creationId xmlns:a16="http://schemas.microsoft.com/office/drawing/2014/main" id="{38A83012-CC3B-47DF-9FCA-A1115F39D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8612" y="5739683"/>
            <a:ext cx="5707316" cy="2183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 sz="1800"/>
              <a:t>Presenter</a:t>
            </a:r>
            <a:r>
              <a:rPr lang="zh-TW" altLang="en-US" sz="1800"/>
              <a:t> </a:t>
            </a:r>
            <a:r>
              <a:rPr lang="en-US" altLang="zh-TW" sz="1800"/>
              <a:t>Name</a:t>
            </a:r>
            <a:r>
              <a:rPr lang="zh-TW" altLang="en-US" sz="1800"/>
              <a:t>｜</a:t>
            </a:r>
            <a:r>
              <a:rPr lang="en-US" altLang="zh-TW" sz="1800"/>
              <a:t>Department</a:t>
            </a:r>
            <a:r>
              <a:rPr lang="zh-TW" altLang="en-US" sz="1800"/>
              <a:t>｜</a:t>
            </a:r>
            <a:r>
              <a:rPr lang="en-US" altLang="zh-TW" sz="1800"/>
              <a:t>MM/DD/YYYY</a:t>
            </a:r>
          </a:p>
        </p:txBody>
      </p:sp>
      <p:sp>
        <p:nvSpPr>
          <p:cNvPr id="9" name="文字版面配置區 4">
            <a:extLst>
              <a:ext uri="{FF2B5EF4-FFF2-40B4-BE49-F238E27FC236}">
                <a16:creationId xmlns:a16="http://schemas.microsoft.com/office/drawing/2014/main" id="{C5F15596-5511-4524-8143-5414A6D0A4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4219" y="738191"/>
            <a:ext cx="2133446" cy="38042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TW"/>
              <a:t>Cover </a:t>
            </a:r>
            <a:r>
              <a:rPr lang="en-US" altLang="zh-TW" err="1"/>
              <a:t>Page_White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6817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_Image">
    <p:bg>
      <p:bgPr>
        <a:blipFill dpi="0" rotWithShape="1">
          <a:blip r:embed="rId2">
            <a:alphaModFix amt="9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532A9990-6214-495A-B5B6-C1801359D16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79379" cy="6850900"/>
          </a:xfrm>
          <a:prstGeom prst="rect">
            <a:avLst/>
          </a:prstGeom>
        </p:spPr>
      </p:pic>
      <p:sp>
        <p:nvSpPr>
          <p:cNvPr id="7" name="日期版面配置區 3">
            <a:extLst>
              <a:ext uri="{FF2B5EF4-FFF2-40B4-BE49-F238E27FC236}">
                <a16:creationId xmlns:a16="http://schemas.microsoft.com/office/drawing/2014/main" id="{CE458713-38E5-4D94-9527-7C2BC1D5DE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8912" y="5705762"/>
            <a:ext cx="2010917" cy="31965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MM/DD/YYYY</a:t>
            </a:r>
          </a:p>
        </p:txBody>
      </p:sp>
      <p:sp>
        <p:nvSpPr>
          <p:cNvPr id="9" name="頁尾版面配置區 4">
            <a:extLst>
              <a:ext uri="{FF2B5EF4-FFF2-40B4-BE49-F238E27FC236}">
                <a16:creationId xmlns:a16="http://schemas.microsoft.com/office/drawing/2014/main" id="{135E4C83-C41A-49B9-9C41-417375F79B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897" y="533373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u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/>
              <a:t>Presenter Name</a:t>
            </a:r>
            <a:r>
              <a:rPr lang="zh-TW" altLang="en-US"/>
              <a:t>｜</a:t>
            </a:r>
            <a:r>
              <a:rPr lang="en-US" altLang="zh-TW"/>
              <a:t>Department </a:t>
            </a:r>
            <a:endParaRPr lang="en-US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C41E9EBA-B88C-4731-B44A-419865607F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137872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460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/>
              <a:t>Presentation Title Goes Here</a:t>
            </a:r>
            <a:br>
              <a:rPr lang="en-US" altLang="zh-TW"/>
            </a:br>
            <a:r>
              <a:rPr lang="en-US" altLang="zh-TW"/>
              <a:t>Maximum 2 Lines (32-46pt)</a:t>
            </a:r>
            <a:endParaRPr lang="en-US"/>
          </a:p>
        </p:txBody>
      </p:sp>
      <p:sp>
        <p:nvSpPr>
          <p:cNvPr id="11" name="文字版面配置區 4">
            <a:extLst>
              <a:ext uri="{FF2B5EF4-FFF2-40B4-BE49-F238E27FC236}">
                <a16:creationId xmlns:a16="http://schemas.microsoft.com/office/drawing/2014/main" id="{35B9A589-C73E-46B0-B30E-8BBC42A4E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4219" y="738191"/>
            <a:ext cx="2133446" cy="38042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TW"/>
              <a:t>Cover </a:t>
            </a:r>
            <a:r>
              <a:rPr lang="en-US" altLang="zh-TW" err="1"/>
              <a:t>Page_Image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3304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4B44CAB8-9DEC-4DEF-99E0-D78F53E4F8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118621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4600" b="0">
                <a:solidFill>
                  <a:schemeClr val="bg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r>
              <a:rPr lang="en-US" altLang="zh-TW"/>
              <a:t>Break Page Title Goes Here</a:t>
            </a:r>
            <a:br>
              <a:rPr lang="en-US" altLang="zh-TW"/>
            </a:br>
            <a:r>
              <a:rPr lang="en-US" altLang="zh-TW"/>
              <a:t>Maximum 2 Lines (32-46pt)</a:t>
            </a:r>
            <a:endParaRPr lang="en-US"/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814F8012-3519-4A75-B26B-57773CA554B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6647" y="3015632"/>
            <a:ext cx="9144000" cy="1353169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200">
                <a:solidFill>
                  <a:schemeClr val="bg1"/>
                </a:solidFill>
                <a:latin typeface="+mj-lt"/>
                <a:ea typeface="Verdana" panose="020B060403050404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altLang="zh-TW"/>
              <a:t>Break Page Subtitle Goes Here</a:t>
            </a:r>
            <a:br>
              <a:rPr lang="en-US" altLang="zh-TW"/>
            </a:br>
            <a:r>
              <a:rPr lang="en-US" altLang="zh-TW"/>
              <a:t>Maximum 2 Lines (24-32pt)</a:t>
            </a:r>
          </a:p>
        </p:txBody>
      </p:sp>
    </p:spTree>
    <p:extLst>
      <p:ext uri="{BB962C8B-B14F-4D97-AF65-F5344CB8AC3E}">
        <p14:creationId xmlns:p14="http://schemas.microsoft.com/office/powerpoint/2010/main" val="30604927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440" y="6225871"/>
            <a:ext cx="1368000" cy="620345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F22CCF-5B81-47DC-861A-B0A56BD7A10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6400" y="1170462"/>
            <a:ext cx="11379200" cy="4953777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TW"/>
              <a:t>Content goes here (20pt)</a:t>
            </a:r>
            <a:endParaRPr 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4EB72046-7EFA-4D5B-9003-30F89B1D91A8}"/>
              </a:ext>
            </a:extLst>
          </p:cNvPr>
          <p:cNvSpPr txBox="1"/>
          <p:nvPr userDrawn="1"/>
        </p:nvSpPr>
        <p:spPr>
          <a:xfrm>
            <a:off x="116026" y="6478467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23BD820-02AB-4111-88E2-98F36ECA9073}" type="slidenum">
              <a:rPr lang="en-US" sz="1400" smtClean="0"/>
              <a:t>‹#›</a:t>
            </a:fld>
            <a:endParaRPr lang="en-US" sz="140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E8C46C83-D634-4B86-88D9-5C8B6A41BF9F}"/>
              </a:ext>
            </a:extLst>
          </p:cNvPr>
          <p:cNvSpPr txBox="1"/>
          <p:nvPr userDrawn="1"/>
        </p:nvSpPr>
        <p:spPr>
          <a:xfrm>
            <a:off x="482266" y="6528265"/>
            <a:ext cx="11913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Delta Confidential</a:t>
            </a:r>
          </a:p>
        </p:txBody>
      </p: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C6679C81-FA7B-49D6-82F0-C4527FE45A1A}"/>
              </a:ext>
            </a:extLst>
          </p:cNvPr>
          <p:cNvGrpSpPr/>
          <p:nvPr userDrawn="1"/>
        </p:nvGrpSpPr>
        <p:grpSpPr>
          <a:xfrm>
            <a:off x="0" y="7008895"/>
            <a:ext cx="10358581" cy="423333"/>
            <a:chOff x="0" y="5256671"/>
            <a:chExt cx="7768936" cy="317500"/>
          </a:xfrm>
        </p:grpSpPr>
        <p:grpSp>
          <p:nvGrpSpPr>
            <p:cNvPr id="57" name="群組 56">
              <a:extLst>
                <a:ext uri="{FF2B5EF4-FFF2-40B4-BE49-F238E27FC236}">
                  <a16:creationId xmlns:a16="http://schemas.microsoft.com/office/drawing/2014/main" id="{C83B355D-DD8E-4886-8A9F-6BD99BFA8CC1}"/>
                </a:ext>
              </a:extLst>
            </p:cNvPr>
            <p:cNvGrpSpPr/>
            <p:nvPr userDrawn="1"/>
          </p:nvGrpSpPr>
          <p:grpSpPr>
            <a:xfrm>
              <a:off x="0" y="5256671"/>
              <a:ext cx="1321058" cy="317500"/>
              <a:chOff x="0" y="5256671"/>
              <a:chExt cx="1321058" cy="317500"/>
            </a:xfrm>
          </p:grpSpPr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1D816D3C-CE63-43F8-AC10-9DFB5870EB4D}"/>
                  </a:ext>
                </a:extLst>
              </p:cNvPr>
              <p:cNvSpPr/>
              <p:nvPr/>
            </p:nvSpPr>
            <p:spPr>
              <a:xfrm>
                <a:off x="0" y="5256671"/>
                <a:ext cx="317500" cy="3175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69A01EFE-0697-4F67-B705-BD578BDC33D9}"/>
                  </a:ext>
                </a:extLst>
              </p:cNvPr>
              <p:cNvSpPr/>
              <p:nvPr userDrawn="1"/>
            </p:nvSpPr>
            <p:spPr>
              <a:xfrm>
                <a:off x="501779" y="5256671"/>
                <a:ext cx="317500" cy="317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8301EB92-F246-4444-B0E1-6E87E28C044D}"/>
                  </a:ext>
                </a:extLst>
              </p:cNvPr>
              <p:cNvSpPr/>
              <p:nvPr userDrawn="1"/>
            </p:nvSpPr>
            <p:spPr>
              <a:xfrm>
                <a:off x="1003558" y="5256671"/>
                <a:ext cx="317500" cy="317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93191886-C7FD-40A9-9609-57D23380C62A}"/>
                </a:ext>
              </a:extLst>
            </p:cNvPr>
            <p:cNvGrpSpPr/>
            <p:nvPr userDrawn="1"/>
          </p:nvGrpSpPr>
          <p:grpSpPr>
            <a:xfrm>
              <a:off x="2441313" y="5256671"/>
              <a:ext cx="5327623" cy="317500"/>
              <a:chOff x="2441313" y="5256671"/>
              <a:chExt cx="5327623" cy="317500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28AB9346-3609-4A19-8654-F1F89BAE3612}"/>
                  </a:ext>
                </a:extLst>
              </p:cNvPr>
              <p:cNvSpPr/>
              <p:nvPr/>
            </p:nvSpPr>
            <p:spPr>
              <a:xfrm>
                <a:off x="3944349" y="5256671"/>
                <a:ext cx="317500" cy="317500"/>
              </a:xfrm>
              <a:prstGeom prst="rect">
                <a:avLst/>
              </a:prstGeom>
              <a:solidFill>
                <a:srgbClr val="96E6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135B6686-F122-4A22-94BF-260EA4280B4D}"/>
                  </a:ext>
                </a:extLst>
              </p:cNvPr>
              <p:cNvSpPr/>
              <p:nvPr/>
            </p:nvSpPr>
            <p:spPr>
              <a:xfrm>
                <a:off x="4946373" y="5256671"/>
                <a:ext cx="317500" cy="317500"/>
              </a:xfrm>
              <a:prstGeom prst="rect">
                <a:avLst/>
              </a:prstGeom>
              <a:solidFill>
                <a:srgbClr val="E6F00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C5EDC45A-2526-46FB-81F7-22EE4872B6AF}"/>
                  </a:ext>
                </a:extLst>
              </p:cNvPr>
              <p:cNvSpPr/>
              <p:nvPr/>
            </p:nvSpPr>
            <p:spPr>
              <a:xfrm>
                <a:off x="6449409" y="5256671"/>
                <a:ext cx="317500" cy="317500"/>
              </a:xfrm>
              <a:prstGeom prst="rect">
                <a:avLst/>
              </a:prstGeom>
              <a:solidFill>
                <a:srgbClr val="FFDC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AFCD5573-BB02-4224-8085-E3255856A371}"/>
                  </a:ext>
                </a:extLst>
              </p:cNvPr>
              <p:cNvSpPr/>
              <p:nvPr/>
            </p:nvSpPr>
            <p:spPr>
              <a:xfrm>
                <a:off x="2942325" y="5256671"/>
                <a:ext cx="317500" cy="317500"/>
              </a:xfrm>
              <a:prstGeom prst="rect">
                <a:avLst/>
              </a:prstGeom>
              <a:solidFill>
                <a:srgbClr val="1E50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2F5AD25B-A76B-4782-93A6-A6CFC1F793DB}"/>
                  </a:ext>
                </a:extLst>
              </p:cNvPr>
              <p:cNvSpPr/>
              <p:nvPr/>
            </p:nvSpPr>
            <p:spPr>
              <a:xfrm>
                <a:off x="4445361" y="5256671"/>
                <a:ext cx="317500" cy="317500"/>
              </a:xfrm>
              <a:prstGeom prst="rect">
                <a:avLst/>
              </a:prstGeom>
              <a:solidFill>
                <a:srgbClr val="008C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E31B0147-73D4-4A0E-AB60-BDE5D65A0FDA}"/>
                  </a:ext>
                </a:extLst>
              </p:cNvPr>
              <p:cNvSpPr/>
              <p:nvPr/>
            </p:nvSpPr>
            <p:spPr>
              <a:xfrm>
                <a:off x="5447385" y="5256671"/>
                <a:ext cx="317500" cy="317500"/>
              </a:xfrm>
              <a:prstGeom prst="rect">
                <a:avLst/>
              </a:prstGeom>
              <a:solidFill>
                <a:srgbClr val="00B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20304356-DABA-4FB6-ACD2-3D555DA768DA}"/>
                  </a:ext>
                </a:extLst>
              </p:cNvPr>
              <p:cNvSpPr/>
              <p:nvPr/>
            </p:nvSpPr>
            <p:spPr>
              <a:xfrm>
                <a:off x="6950421" y="5256671"/>
                <a:ext cx="317500" cy="317500"/>
              </a:xfrm>
              <a:prstGeom prst="rect">
                <a:avLst/>
              </a:prstGeom>
              <a:solidFill>
                <a:srgbClr val="FFAA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2A159378-35B9-4C04-9A3C-0680A883C20B}"/>
                  </a:ext>
                </a:extLst>
              </p:cNvPr>
              <p:cNvSpPr/>
              <p:nvPr/>
            </p:nvSpPr>
            <p:spPr>
              <a:xfrm>
                <a:off x="3443337" y="5256671"/>
                <a:ext cx="317500" cy="317500"/>
              </a:xfrm>
              <a:prstGeom prst="rect">
                <a:avLst/>
              </a:prstGeom>
              <a:solidFill>
                <a:srgbClr val="0028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06606867-067F-4294-8D14-6300FB59E7A6}"/>
                  </a:ext>
                </a:extLst>
              </p:cNvPr>
              <p:cNvSpPr/>
              <p:nvPr/>
            </p:nvSpPr>
            <p:spPr>
              <a:xfrm>
                <a:off x="5948397" y="5256671"/>
                <a:ext cx="317500" cy="317500"/>
              </a:xfrm>
              <a:prstGeom prst="rect">
                <a:avLst/>
              </a:prstGeom>
              <a:solidFill>
                <a:srgbClr val="0082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C0B9F68F-02FA-4B05-BD0F-46245FAE32A1}"/>
                  </a:ext>
                </a:extLst>
              </p:cNvPr>
              <p:cNvSpPr/>
              <p:nvPr/>
            </p:nvSpPr>
            <p:spPr>
              <a:xfrm>
                <a:off x="7451436" y="5256671"/>
                <a:ext cx="317500" cy="317500"/>
              </a:xfrm>
              <a:prstGeom prst="rect">
                <a:avLst/>
              </a:prstGeom>
              <a:solidFill>
                <a:srgbClr val="C88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91D1B3FF-2264-4799-880B-9AC63365E06E}"/>
                  </a:ext>
                </a:extLst>
              </p:cNvPr>
              <p:cNvSpPr/>
              <p:nvPr userDrawn="1"/>
            </p:nvSpPr>
            <p:spPr>
              <a:xfrm>
                <a:off x="2441313" y="5256671"/>
                <a:ext cx="317500" cy="317500"/>
              </a:xfrm>
              <a:prstGeom prst="rect">
                <a:avLst/>
              </a:prstGeom>
              <a:solidFill>
                <a:srgbClr val="BEE6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24" name="標題 4">
            <a:extLst>
              <a:ext uri="{FF2B5EF4-FFF2-40B4-BE49-F238E27FC236}">
                <a16:creationId xmlns:a16="http://schemas.microsoft.com/office/drawing/2014/main" id="{2702107E-0279-495A-BF89-DD786730C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440356"/>
            <a:ext cx="11379200" cy="679396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Page Title Goes Here (28-32pt)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2104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2702107E-0279-495A-BF89-DD786730C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Page Title Goes Here (28-32pt)</a:t>
            </a:r>
            <a:endParaRPr lang="en-US"/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8AEA3F42-8ED3-4628-89CC-CE9DC5D371F1}"/>
              </a:ext>
            </a:extLst>
          </p:cNvPr>
          <p:cNvGrpSpPr/>
          <p:nvPr userDrawn="1"/>
        </p:nvGrpSpPr>
        <p:grpSpPr>
          <a:xfrm>
            <a:off x="0" y="7008895"/>
            <a:ext cx="10358581" cy="423333"/>
            <a:chOff x="0" y="5256671"/>
            <a:chExt cx="7768936" cy="3175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BDCAFD82-B8CA-4738-843C-0FC6D7C6C5F5}"/>
                </a:ext>
              </a:extLst>
            </p:cNvPr>
            <p:cNvGrpSpPr/>
            <p:nvPr userDrawn="1"/>
          </p:nvGrpSpPr>
          <p:grpSpPr>
            <a:xfrm>
              <a:off x="0" y="5256671"/>
              <a:ext cx="1321058" cy="317500"/>
              <a:chOff x="0" y="5256671"/>
              <a:chExt cx="1321058" cy="317500"/>
            </a:xfrm>
          </p:grpSpPr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3C299B04-932C-4519-8E76-017FBD3A569A}"/>
                  </a:ext>
                </a:extLst>
              </p:cNvPr>
              <p:cNvSpPr/>
              <p:nvPr/>
            </p:nvSpPr>
            <p:spPr>
              <a:xfrm>
                <a:off x="0" y="5256671"/>
                <a:ext cx="317500" cy="3175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0B20FB35-F562-4362-B563-165B24074653}"/>
                  </a:ext>
                </a:extLst>
              </p:cNvPr>
              <p:cNvSpPr/>
              <p:nvPr userDrawn="1"/>
            </p:nvSpPr>
            <p:spPr>
              <a:xfrm>
                <a:off x="501779" y="5256671"/>
                <a:ext cx="317500" cy="317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0DE5232E-7B0E-4AEF-9D43-2E173D30F319}"/>
                  </a:ext>
                </a:extLst>
              </p:cNvPr>
              <p:cNvSpPr/>
              <p:nvPr userDrawn="1"/>
            </p:nvSpPr>
            <p:spPr>
              <a:xfrm>
                <a:off x="1003558" y="5256671"/>
                <a:ext cx="317500" cy="317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9D8FD8BE-B575-4450-95FD-B132F2FBF30C}"/>
                </a:ext>
              </a:extLst>
            </p:cNvPr>
            <p:cNvGrpSpPr/>
            <p:nvPr userDrawn="1"/>
          </p:nvGrpSpPr>
          <p:grpSpPr>
            <a:xfrm>
              <a:off x="2441313" y="5256671"/>
              <a:ext cx="5327623" cy="317500"/>
              <a:chOff x="2441313" y="5256671"/>
              <a:chExt cx="5327623" cy="317500"/>
            </a:xfrm>
          </p:grpSpPr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FA6D470B-49E6-460D-A2F7-3AA3A3B20021}"/>
                  </a:ext>
                </a:extLst>
              </p:cNvPr>
              <p:cNvSpPr/>
              <p:nvPr/>
            </p:nvSpPr>
            <p:spPr>
              <a:xfrm>
                <a:off x="3944349" y="5256671"/>
                <a:ext cx="317500" cy="317500"/>
              </a:xfrm>
              <a:prstGeom prst="rect">
                <a:avLst/>
              </a:prstGeom>
              <a:solidFill>
                <a:srgbClr val="96E6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184DC0D2-E428-4F38-B04F-7DC781667A34}"/>
                  </a:ext>
                </a:extLst>
              </p:cNvPr>
              <p:cNvSpPr/>
              <p:nvPr/>
            </p:nvSpPr>
            <p:spPr>
              <a:xfrm>
                <a:off x="4946373" y="5256671"/>
                <a:ext cx="317500" cy="317500"/>
              </a:xfrm>
              <a:prstGeom prst="rect">
                <a:avLst/>
              </a:prstGeom>
              <a:solidFill>
                <a:srgbClr val="E6F00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681D0C29-FC7B-4F3F-BD32-E40206A62370}"/>
                  </a:ext>
                </a:extLst>
              </p:cNvPr>
              <p:cNvSpPr/>
              <p:nvPr/>
            </p:nvSpPr>
            <p:spPr>
              <a:xfrm>
                <a:off x="6449409" y="5256671"/>
                <a:ext cx="317500" cy="317500"/>
              </a:xfrm>
              <a:prstGeom prst="rect">
                <a:avLst/>
              </a:prstGeom>
              <a:solidFill>
                <a:srgbClr val="FFDC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D032A71D-5325-4D28-B4B1-6B6BF4AAB30A}"/>
                  </a:ext>
                </a:extLst>
              </p:cNvPr>
              <p:cNvSpPr/>
              <p:nvPr/>
            </p:nvSpPr>
            <p:spPr>
              <a:xfrm>
                <a:off x="2942325" y="5256671"/>
                <a:ext cx="317500" cy="317500"/>
              </a:xfrm>
              <a:prstGeom prst="rect">
                <a:avLst/>
              </a:prstGeom>
              <a:solidFill>
                <a:srgbClr val="1E50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738A70FA-150B-4708-B634-5950D1A00DF9}"/>
                  </a:ext>
                </a:extLst>
              </p:cNvPr>
              <p:cNvSpPr/>
              <p:nvPr/>
            </p:nvSpPr>
            <p:spPr>
              <a:xfrm>
                <a:off x="4445361" y="5256671"/>
                <a:ext cx="317500" cy="317500"/>
              </a:xfrm>
              <a:prstGeom prst="rect">
                <a:avLst/>
              </a:prstGeom>
              <a:solidFill>
                <a:srgbClr val="008C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D3854FDB-0E9B-46EB-A142-15E78B7E2E6D}"/>
                  </a:ext>
                </a:extLst>
              </p:cNvPr>
              <p:cNvSpPr/>
              <p:nvPr/>
            </p:nvSpPr>
            <p:spPr>
              <a:xfrm>
                <a:off x="5447385" y="5256671"/>
                <a:ext cx="317500" cy="317500"/>
              </a:xfrm>
              <a:prstGeom prst="rect">
                <a:avLst/>
              </a:prstGeom>
              <a:solidFill>
                <a:srgbClr val="00B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6FD94B95-A8E7-4E9F-A041-9A4885EECF37}"/>
                  </a:ext>
                </a:extLst>
              </p:cNvPr>
              <p:cNvSpPr/>
              <p:nvPr/>
            </p:nvSpPr>
            <p:spPr>
              <a:xfrm>
                <a:off x="6950421" y="5256671"/>
                <a:ext cx="317500" cy="317500"/>
              </a:xfrm>
              <a:prstGeom prst="rect">
                <a:avLst/>
              </a:prstGeom>
              <a:solidFill>
                <a:srgbClr val="FFAA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1F6E9780-35D6-4AF2-80BB-A3569C8BA2E3}"/>
                  </a:ext>
                </a:extLst>
              </p:cNvPr>
              <p:cNvSpPr/>
              <p:nvPr/>
            </p:nvSpPr>
            <p:spPr>
              <a:xfrm>
                <a:off x="3443337" y="5256671"/>
                <a:ext cx="317500" cy="317500"/>
              </a:xfrm>
              <a:prstGeom prst="rect">
                <a:avLst/>
              </a:prstGeom>
              <a:solidFill>
                <a:srgbClr val="0028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4A11A937-B5ED-40BD-9B95-73D6C01FBDBD}"/>
                  </a:ext>
                </a:extLst>
              </p:cNvPr>
              <p:cNvSpPr/>
              <p:nvPr/>
            </p:nvSpPr>
            <p:spPr>
              <a:xfrm>
                <a:off x="5948397" y="5256671"/>
                <a:ext cx="317500" cy="317500"/>
              </a:xfrm>
              <a:prstGeom prst="rect">
                <a:avLst/>
              </a:prstGeom>
              <a:solidFill>
                <a:srgbClr val="0082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71465539-F4BD-48C9-8CC9-44AE7B975869}"/>
                  </a:ext>
                </a:extLst>
              </p:cNvPr>
              <p:cNvSpPr/>
              <p:nvPr/>
            </p:nvSpPr>
            <p:spPr>
              <a:xfrm>
                <a:off x="7451436" y="5256671"/>
                <a:ext cx="317500" cy="317500"/>
              </a:xfrm>
              <a:prstGeom prst="rect">
                <a:avLst/>
              </a:prstGeom>
              <a:solidFill>
                <a:srgbClr val="C88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85BCC709-E469-4948-B4D5-AF8897457737}"/>
                  </a:ext>
                </a:extLst>
              </p:cNvPr>
              <p:cNvSpPr/>
              <p:nvPr userDrawn="1"/>
            </p:nvSpPr>
            <p:spPr>
              <a:xfrm>
                <a:off x="2441313" y="5256671"/>
                <a:ext cx="317500" cy="317500"/>
              </a:xfrm>
              <a:prstGeom prst="rect">
                <a:avLst/>
              </a:prstGeom>
              <a:solidFill>
                <a:srgbClr val="BEE6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EB72046-7EFA-4D5B-9003-30F89B1D91A8}"/>
              </a:ext>
            </a:extLst>
          </p:cNvPr>
          <p:cNvSpPr txBox="1"/>
          <p:nvPr userDrawn="1"/>
        </p:nvSpPr>
        <p:spPr>
          <a:xfrm>
            <a:off x="116026" y="6478467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23BD820-02AB-4111-88E2-98F36ECA9073}" type="slidenum">
              <a:rPr lang="en-US" sz="1400" smtClean="0"/>
              <a:t>‹#›</a:t>
            </a:fld>
            <a:endParaRPr lang="en-US" sz="140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E8C46C83-D634-4B86-88D9-5C8B6A41BF9F}"/>
              </a:ext>
            </a:extLst>
          </p:cNvPr>
          <p:cNvSpPr txBox="1"/>
          <p:nvPr userDrawn="1"/>
        </p:nvSpPr>
        <p:spPr>
          <a:xfrm>
            <a:off x="482266" y="6528265"/>
            <a:ext cx="11913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Delta Confidential</a:t>
            </a:r>
          </a:p>
        </p:txBody>
      </p:sp>
      <p:pic>
        <p:nvPicPr>
          <p:cNvPr id="23" name="圖片 22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440" y="6225871"/>
            <a:ext cx="1368000" cy="62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5703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Page_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5F44435C-4EDB-4AB4-AAD6-08BF8682BA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099372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4600" b="0">
                <a:solidFill>
                  <a:schemeClr val="tx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r>
              <a:rPr lang="en-US" altLang="zh-TW"/>
              <a:t>Smarter. Greener. Together. </a:t>
            </a:r>
            <a:br>
              <a:rPr lang="en-US"/>
            </a:br>
            <a:endParaRPr lang="en-US"/>
          </a:p>
        </p:txBody>
      </p:sp>
      <p:sp>
        <p:nvSpPr>
          <p:cNvPr id="6" name="文字版面配置區 4">
            <a:extLst>
              <a:ext uri="{FF2B5EF4-FFF2-40B4-BE49-F238E27FC236}">
                <a16:creationId xmlns:a16="http://schemas.microsoft.com/office/drawing/2014/main" id="{38C78CAC-0A95-4D70-9EAA-CE96A16F9E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5370" y="60183"/>
            <a:ext cx="2133446" cy="38042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TW"/>
              <a:t>Ending </a:t>
            </a:r>
            <a:r>
              <a:rPr lang="en-US" altLang="zh-TW" err="1"/>
              <a:t>Page_White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01958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Page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3B392DE6-2AF2-4E28-AF03-1A4F3D15BEAE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53" name="矩形 52"/>
          <p:cNvSpPr/>
          <p:nvPr userDrawn="1"/>
        </p:nvSpPr>
        <p:spPr>
          <a:xfrm>
            <a:off x="0" y="-1"/>
            <a:ext cx="12192000" cy="4831883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TW" altLang="en-US"/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ABE8868F-CA4D-431A-BCA3-79708C4A93CC}"/>
              </a:ext>
            </a:extLst>
          </p:cNvPr>
          <p:cNvGrpSpPr/>
          <p:nvPr userDrawn="1"/>
        </p:nvGrpSpPr>
        <p:grpSpPr>
          <a:xfrm>
            <a:off x="0" y="7008895"/>
            <a:ext cx="10358581" cy="423333"/>
            <a:chOff x="0" y="5256671"/>
            <a:chExt cx="7768936" cy="317500"/>
          </a:xfrm>
        </p:grpSpPr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E5238164-92D2-4070-B189-8D969D4D4C1C}"/>
                </a:ext>
              </a:extLst>
            </p:cNvPr>
            <p:cNvGrpSpPr/>
            <p:nvPr userDrawn="1"/>
          </p:nvGrpSpPr>
          <p:grpSpPr>
            <a:xfrm>
              <a:off x="0" y="5256671"/>
              <a:ext cx="1321058" cy="317500"/>
              <a:chOff x="0" y="5256671"/>
              <a:chExt cx="1321058" cy="317500"/>
            </a:xfrm>
          </p:grpSpPr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FD4CBB22-8F55-4813-A361-6B31616CEFC5}"/>
                  </a:ext>
                </a:extLst>
              </p:cNvPr>
              <p:cNvSpPr/>
              <p:nvPr/>
            </p:nvSpPr>
            <p:spPr>
              <a:xfrm>
                <a:off x="0" y="5256671"/>
                <a:ext cx="317500" cy="3175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9AE6129C-E538-40C6-95CE-8D689DA806C3}"/>
                  </a:ext>
                </a:extLst>
              </p:cNvPr>
              <p:cNvSpPr/>
              <p:nvPr userDrawn="1"/>
            </p:nvSpPr>
            <p:spPr>
              <a:xfrm>
                <a:off x="501779" y="5256671"/>
                <a:ext cx="317500" cy="317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B42DF3C8-6F17-4F9B-8224-82E6BF529D75}"/>
                  </a:ext>
                </a:extLst>
              </p:cNvPr>
              <p:cNvSpPr/>
              <p:nvPr userDrawn="1"/>
            </p:nvSpPr>
            <p:spPr>
              <a:xfrm>
                <a:off x="1003558" y="5256671"/>
                <a:ext cx="317500" cy="317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7" name="群組 36">
              <a:extLst>
                <a:ext uri="{FF2B5EF4-FFF2-40B4-BE49-F238E27FC236}">
                  <a16:creationId xmlns:a16="http://schemas.microsoft.com/office/drawing/2014/main" id="{CA03870D-CA4E-4A68-B643-C828AB156380}"/>
                </a:ext>
              </a:extLst>
            </p:cNvPr>
            <p:cNvGrpSpPr/>
            <p:nvPr userDrawn="1"/>
          </p:nvGrpSpPr>
          <p:grpSpPr>
            <a:xfrm>
              <a:off x="2441313" y="5256671"/>
              <a:ext cx="5327623" cy="317500"/>
              <a:chOff x="2441313" y="5256671"/>
              <a:chExt cx="5327623" cy="317500"/>
            </a:xfrm>
          </p:grpSpPr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204627FC-9E22-4DF5-9620-E588D5B1D754}"/>
                  </a:ext>
                </a:extLst>
              </p:cNvPr>
              <p:cNvSpPr/>
              <p:nvPr/>
            </p:nvSpPr>
            <p:spPr>
              <a:xfrm>
                <a:off x="3944349" y="5256671"/>
                <a:ext cx="317500" cy="317500"/>
              </a:xfrm>
              <a:prstGeom prst="rect">
                <a:avLst/>
              </a:prstGeom>
              <a:solidFill>
                <a:srgbClr val="96E6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9FFB4E0B-7913-4DBA-B9BC-22815DD1E9F5}"/>
                  </a:ext>
                </a:extLst>
              </p:cNvPr>
              <p:cNvSpPr/>
              <p:nvPr/>
            </p:nvSpPr>
            <p:spPr>
              <a:xfrm>
                <a:off x="4946373" y="5256671"/>
                <a:ext cx="317500" cy="317500"/>
              </a:xfrm>
              <a:prstGeom prst="rect">
                <a:avLst/>
              </a:prstGeom>
              <a:solidFill>
                <a:srgbClr val="E6F00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E6EA7B8-B405-4A2B-8F6C-66644CA26469}"/>
                  </a:ext>
                </a:extLst>
              </p:cNvPr>
              <p:cNvSpPr/>
              <p:nvPr/>
            </p:nvSpPr>
            <p:spPr>
              <a:xfrm>
                <a:off x="6449409" y="5256671"/>
                <a:ext cx="317500" cy="317500"/>
              </a:xfrm>
              <a:prstGeom prst="rect">
                <a:avLst/>
              </a:prstGeom>
              <a:solidFill>
                <a:srgbClr val="FFDC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531D023A-8171-4D62-AD85-A3E51BEECBCA}"/>
                  </a:ext>
                </a:extLst>
              </p:cNvPr>
              <p:cNvSpPr/>
              <p:nvPr/>
            </p:nvSpPr>
            <p:spPr>
              <a:xfrm>
                <a:off x="2942325" y="5256671"/>
                <a:ext cx="317500" cy="317500"/>
              </a:xfrm>
              <a:prstGeom prst="rect">
                <a:avLst/>
              </a:prstGeom>
              <a:solidFill>
                <a:srgbClr val="1E50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B8F6B22F-DD93-4EC4-8E97-7E5A61686F3E}"/>
                  </a:ext>
                </a:extLst>
              </p:cNvPr>
              <p:cNvSpPr/>
              <p:nvPr/>
            </p:nvSpPr>
            <p:spPr>
              <a:xfrm>
                <a:off x="4445361" y="5256671"/>
                <a:ext cx="317500" cy="317500"/>
              </a:xfrm>
              <a:prstGeom prst="rect">
                <a:avLst/>
              </a:prstGeom>
              <a:solidFill>
                <a:srgbClr val="008C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28833C97-6D6E-40FC-976A-CF4C2B0848D9}"/>
                  </a:ext>
                </a:extLst>
              </p:cNvPr>
              <p:cNvSpPr/>
              <p:nvPr/>
            </p:nvSpPr>
            <p:spPr>
              <a:xfrm>
                <a:off x="5447385" y="5256671"/>
                <a:ext cx="317500" cy="317500"/>
              </a:xfrm>
              <a:prstGeom prst="rect">
                <a:avLst/>
              </a:prstGeom>
              <a:solidFill>
                <a:srgbClr val="00B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ED3716C8-CA0D-4806-A013-3F0E791C886C}"/>
                  </a:ext>
                </a:extLst>
              </p:cNvPr>
              <p:cNvSpPr/>
              <p:nvPr/>
            </p:nvSpPr>
            <p:spPr>
              <a:xfrm>
                <a:off x="6950421" y="5256671"/>
                <a:ext cx="317500" cy="317500"/>
              </a:xfrm>
              <a:prstGeom prst="rect">
                <a:avLst/>
              </a:prstGeom>
              <a:solidFill>
                <a:srgbClr val="FFAA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EB57F906-7144-4062-914D-703110CC17BF}"/>
                  </a:ext>
                </a:extLst>
              </p:cNvPr>
              <p:cNvSpPr/>
              <p:nvPr/>
            </p:nvSpPr>
            <p:spPr>
              <a:xfrm>
                <a:off x="3443337" y="5256671"/>
                <a:ext cx="317500" cy="317500"/>
              </a:xfrm>
              <a:prstGeom prst="rect">
                <a:avLst/>
              </a:prstGeom>
              <a:solidFill>
                <a:srgbClr val="0028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09D68DFB-0813-4C3A-8CE7-03C842C11ED7}"/>
                  </a:ext>
                </a:extLst>
              </p:cNvPr>
              <p:cNvSpPr/>
              <p:nvPr/>
            </p:nvSpPr>
            <p:spPr>
              <a:xfrm>
                <a:off x="5948397" y="5256671"/>
                <a:ext cx="317500" cy="317500"/>
              </a:xfrm>
              <a:prstGeom prst="rect">
                <a:avLst/>
              </a:prstGeom>
              <a:solidFill>
                <a:srgbClr val="0082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AE8DE291-898F-4470-A37E-2D3C217EDD29}"/>
                  </a:ext>
                </a:extLst>
              </p:cNvPr>
              <p:cNvSpPr/>
              <p:nvPr/>
            </p:nvSpPr>
            <p:spPr>
              <a:xfrm>
                <a:off x="7451436" y="5256671"/>
                <a:ext cx="317500" cy="317500"/>
              </a:xfrm>
              <a:prstGeom prst="rect">
                <a:avLst/>
              </a:prstGeom>
              <a:solidFill>
                <a:srgbClr val="C88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37A1C886-D4A7-40F8-BEDF-DE906366403B}"/>
                  </a:ext>
                </a:extLst>
              </p:cNvPr>
              <p:cNvSpPr/>
              <p:nvPr userDrawn="1"/>
            </p:nvSpPr>
            <p:spPr>
              <a:xfrm>
                <a:off x="2441313" y="5256671"/>
                <a:ext cx="317500" cy="317500"/>
              </a:xfrm>
              <a:prstGeom prst="rect">
                <a:avLst/>
              </a:prstGeom>
              <a:solidFill>
                <a:srgbClr val="BEE6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22" name="標題 1">
            <a:extLst>
              <a:ext uri="{FF2B5EF4-FFF2-40B4-BE49-F238E27FC236}">
                <a16:creationId xmlns:a16="http://schemas.microsoft.com/office/drawing/2014/main" id="{9FF8E5F9-3E27-4FB9-9E7F-AA69CBB722EF}"/>
              </a:ext>
            </a:extLst>
          </p:cNvPr>
          <p:cNvSpPr txBox="1">
            <a:spLocks/>
          </p:cNvSpPr>
          <p:nvPr userDrawn="1"/>
        </p:nvSpPr>
        <p:spPr>
          <a:xfrm>
            <a:off x="376089" y="5152426"/>
            <a:ext cx="9144000" cy="1212111"/>
          </a:xfrm>
          <a:prstGeom prst="rect">
            <a:avLst/>
          </a:prstGeom>
        </p:spPr>
        <p:txBody>
          <a:bodyPr/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4400" b="0">
                <a:solidFill>
                  <a:schemeClr val="tx1"/>
                </a:solidFill>
                <a:latin typeface="+mn-lt"/>
              </a:rPr>
              <a:t>Smarter. Greener. Together. </a:t>
            </a:r>
            <a:br>
              <a:rPr lang="en-US" altLang="zh-TW" sz="4400" b="0">
                <a:solidFill>
                  <a:schemeClr val="tx1"/>
                </a:solidFill>
                <a:latin typeface="+mn-lt"/>
              </a:rPr>
            </a:br>
            <a:endParaRPr lang="en-US" sz="4400" b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3" name="圖片 2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5101" y="5475968"/>
            <a:ext cx="2814118" cy="1276115"/>
          </a:xfrm>
          <a:prstGeom prst="rect">
            <a:avLst/>
          </a:prstGeom>
        </p:spPr>
      </p:pic>
      <p:sp>
        <p:nvSpPr>
          <p:cNvPr id="55" name="圖片版面配置區 6">
            <a:extLst>
              <a:ext uri="{FF2B5EF4-FFF2-40B4-BE49-F238E27FC236}">
                <a16:creationId xmlns:a16="http://schemas.microsoft.com/office/drawing/2014/main" id="{BEC39B5C-7A19-45E5-87B6-A4D4ACE9133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588" y="-12701"/>
            <a:ext cx="12192001" cy="471393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70C0"/>
                </a:solidFill>
              </a:defRPr>
            </a:lvl1pPr>
          </a:lstStyle>
          <a:p>
            <a:r>
              <a:rPr lang="en-US" altLang="zh-TW"/>
              <a:t>     Ending </a:t>
            </a:r>
            <a:r>
              <a:rPr lang="en-US" altLang="zh-TW" err="1"/>
              <a:t>Page_Image</a:t>
            </a:r>
            <a:r>
              <a:rPr lang="en-US" altLang="zh-TW"/>
              <a:t>: </a:t>
            </a:r>
            <a:br>
              <a:rPr lang="en-US" altLang="zh-TW"/>
            </a:br>
            <a:r>
              <a:rPr lang="en-US" altLang="zh-TW"/>
              <a:t>      A corporate-level, sector-level or product-level brand communication imagery can be applied in this gray area.</a:t>
            </a:r>
          </a:p>
          <a:p>
            <a:endParaRPr lang="zh-TW" altLang="en-US"/>
          </a:p>
        </p:txBody>
      </p:sp>
      <p:grpSp>
        <p:nvGrpSpPr>
          <p:cNvPr id="5" name="群組 4"/>
          <p:cNvGrpSpPr/>
          <p:nvPr userDrawn="1"/>
        </p:nvGrpSpPr>
        <p:grpSpPr>
          <a:xfrm>
            <a:off x="-1200" y="4701237"/>
            <a:ext cx="12193200" cy="144000"/>
            <a:chOff x="22799" y="4912990"/>
            <a:chExt cx="12193200" cy="144000"/>
          </a:xfrm>
        </p:grpSpPr>
        <p:sp>
          <p:nvSpPr>
            <p:cNvPr id="2" name="矩形 1"/>
            <p:cNvSpPr/>
            <p:nvPr userDrawn="1"/>
          </p:nvSpPr>
          <p:spPr>
            <a:xfrm>
              <a:off x="22799" y="4912990"/>
              <a:ext cx="12193200" cy="14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" name="矩形 3"/>
            <p:cNvSpPr/>
            <p:nvPr userDrawn="1"/>
          </p:nvSpPr>
          <p:spPr>
            <a:xfrm>
              <a:off x="9767999" y="4912990"/>
              <a:ext cx="2448000" cy="144000"/>
            </a:xfrm>
            <a:prstGeom prst="rect">
              <a:avLst/>
            </a:prstGeom>
            <a:solidFill>
              <a:srgbClr val="B9EB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矩形 51"/>
            <p:cNvSpPr/>
            <p:nvPr userDrawn="1"/>
          </p:nvSpPr>
          <p:spPr>
            <a:xfrm>
              <a:off x="7323672" y="4912990"/>
              <a:ext cx="2448000" cy="144000"/>
            </a:xfrm>
            <a:prstGeom prst="rect">
              <a:avLst/>
            </a:prstGeom>
            <a:solidFill>
              <a:srgbClr val="64D7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68723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F1EAE06-BEFC-C327-6360-605CDB348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4FE4241-4C8A-FD7F-BAC0-13BC63867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F98BA1-273C-AE95-2D9B-55CC65FE4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BF3465-7E41-4737-98B5-99A32BF80602}" type="datetimeFigureOut">
              <a:rPr lang="zh-TW" altLang="en-US" smtClean="0"/>
              <a:t>2026/4/14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F2EE282-4388-58CA-F2D1-B9BC64DB71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33489E9-77FD-1262-A98F-C6481116E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5A4404-9F28-4575-8686-E976E04C65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8922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584B288-D41F-4145-A1C0-E0281E1E2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440356"/>
            <a:ext cx="11379200" cy="67939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altLang="zh-TW"/>
              <a:t>Page Title Goes Here (32pt)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BE7FFB-6DD4-4C49-91B1-9DC75DF6E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170462"/>
            <a:ext cx="11379200" cy="466963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altLang="zh-TW"/>
              <a:t>Content goes here (24pt)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BD7ECA-A67F-4BFF-9619-0DDD6E5A9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0" y="6176267"/>
            <a:ext cx="2743200" cy="422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MM/DD/YYYY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9C03B7-7699-4072-AC6D-A339A44A70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3611" y="6191967"/>
            <a:ext cx="4114800" cy="4374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u="none">
                <a:solidFill>
                  <a:schemeClr val="tx1"/>
                </a:solidFill>
              </a:defRPr>
            </a:lvl1pPr>
          </a:lstStyle>
          <a:p>
            <a:r>
              <a:rPr lang="en-US"/>
              <a:t>Presenter Name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AC81264-E3A8-4919-AA46-612C30BB1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2" y="6191968"/>
            <a:ext cx="401121" cy="4225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81BD21A8-5E88-4AE4-993C-2D76760CAD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696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</p:sldLayoutIdLst>
  <p:hf hdr="0"/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頁尾版面配置區 3"/>
          <p:cNvSpPr>
            <a:spLocks noGrp="1"/>
          </p:cNvSpPr>
          <p:nvPr>
            <p:ph type="ftr" sz="quarter" idx="3"/>
          </p:nvPr>
        </p:nvSpPr>
        <p:spPr>
          <a:xfrm>
            <a:off x="818612" y="5739683"/>
            <a:ext cx="6696000" cy="218356"/>
          </a:xfrm>
        </p:spPr>
        <p:txBody>
          <a:bodyPr/>
          <a:lstStyle/>
          <a:p>
            <a:r>
              <a:rPr lang="en-US" altLang="zh-TW" sz="1800"/>
              <a:t>Advanced IT Architecture Dept.</a:t>
            </a:r>
            <a:r>
              <a:rPr lang="zh-TW" altLang="en-US" sz="1800"/>
              <a:t>｜</a:t>
            </a:r>
            <a:r>
              <a:rPr lang="en-US" altLang="zh-TW" sz="1800"/>
              <a:t>2026/04/15</a:t>
            </a: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4D9E8D4D-0250-4F2E-9283-56208C1A98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6647" y="1118615"/>
            <a:ext cx="9144000" cy="1864899"/>
          </a:xfrm>
        </p:spPr>
        <p:txBody>
          <a:bodyPr>
            <a:normAutofit/>
          </a:bodyPr>
          <a:lstStyle/>
          <a:p>
            <a:r>
              <a:rPr lang="en-US" altLang="zh-TW" sz="4600" dirty="0"/>
              <a:t>DMP KPI </a:t>
            </a:r>
            <a:r>
              <a:rPr lang="en-US" altLang="zh-TW" sz="4600" dirty="0" err="1"/>
              <a:t>ClickHouse</a:t>
            </a:r>
            <a:r>
              <a:rPr lang="en-US" altLang="zh-TW" sz="4600" dirty="0"/>
              <a:t> Version</a:t>
            </a:r>
            <a:endParaRPr lang="en-US" sz="4600" dirty="0"/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76514E5B-9CF7-4E44-8735-E1885DB8F2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6647" y="3015629"/>
            <a:ext cx="9144000" cy="1370104"/>
          </a:xfrm>
        </p:spPr>
        <p:txBody>
          <a:bodyPr>
            <a:normAutofit/>
          </a:bodyPr>
          <a:lstStyle/>
          <a:p>
            <a:r>
              <a:rPr lang="zh-TW" altLang="en-US" dirty="0"/>
              <a:t>成果展示報告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289649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F8E5F9-3E27-4FB9-9E7F-AA69CBB722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6647" y="1109141"/>
            <a:ext cx="9144000" cy="1864899"/>
          </a:xfrm>
        </p:spPr>
        <p:txBody>
          <a:bodyPr>
            <a:normAutofit/>
          </a:bodyPr>
          <a:lstStyle/>
          <a:p>
            <a:r>
              <a:rPr lang="en-US" altLang="zh-TW"/>
              <a:t>Smarter. Greener. Together. </a:t>
            </a:r>
            <a:br>
              <a:rPr lang="en-US" altLang="zh-TW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469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0164399-2927-CD2A-3F2D-029323D8B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Row vs Column</a:t>
            </a:r>
            <a:r>
              <a:rPr lang="zh-TW" altLang="en-US" dirty="0"/>
              <a:t>：為什麼選 </a:t>
            </a:r>
            <a:r>
              <a:rPr lang="en-US" altLang="zh-TW" dirty="0" err="1"/>
              <a:t>ClickHouse</a:t>
            </a:r>
            <a:endParaRPr lang="zh-TW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D75B33-1DA7-D535-E186-37372B91F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795338"/>
            <a:ext cx="9753600" cy="526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圖片 10" descr="一張含有 文字, 螢幕擷取畫面, 字型, 數字 的圖片">
            <a:extLst>
              <a:ext uri="{FF2B5EF4-FFF2-40B4-BE49-F238E27FC236}">
                <a16:creationId xmlns:a16="http://schemas.microsoft.com/office/drawing/2014/main" id="{4FE2D896-7A8A-E596-8CF4-DD28934AFC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48" y="1474734"/>
            <a:ext cx="8034030" cy="448411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FD77811E-AF33-AD4F-5AD4-4502D2C97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3051" y="2532184"/>
            <a:ext cx="4048949" cy="155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56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DEB72-17C1-59CD-F23E-AFA7C432F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9528378-E85B-EE58-6D36-73FD801A6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獎章制度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C2A12F6-4638-4145-16EE-E5E5D19F6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12"/>
          <a:stretch>
            <a:fillRect/>
          </a:stretch>
        </p:blipFill>
        <p:spPr>
          <a:xfrm>
            <a:off x="541492" y="1031143"/>
            <a:ext cx="11379201" cy="566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214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56134-BA04-D4E0-AC55-E218AF620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8585AA3-88C3-9EEB-0BDC-79AFCB834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 壓縮效益與效能數據 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BE6F10F-63CE-D08F-09F9-6702DD00C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733" y="4392896"/>
            <a:ext cx="7746863" cy="202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569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95C29-0671-F34C-64FE-9D1A423F5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F26D4C7-1A10-D5BA-7D64-960D1B8E7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ODBC </a:t>
            </a:r>
            <a:r>
              <a:rPr lang="zh-TW" altLang="en-US" dirty="0"/>
              <a:t>資料同步機制 </a:t>
            </a:r>
          </a:p>
        </p:txBody>
      </p:sp>
    </p:spTree>
    <p:extLst>
      <p:ext uri="{BB962C8B-B14F-4D97-AF65-F5344CB8AC3E}">
        <p14:creationId xmlns:p14="http://schemas.microsoft.com/office/powerpoint/2010/main" val="1456957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09393-F0DA-2544-6970-7A4050CA8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9B1667C1-205D-76C9-74F4-DC4B69B0D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ODBC </a:t>
            </a:r>
            <a:r>
              <a:rPr lang="zh-TW" altLang="en-US" dirty="0"/>
              <a:t>資料同步機制 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A9D3EB8-C3B2-25E1-9C2B-2604FEBF7162}"/>
              </a:ext>
            </a:extLst>
          </p:cNvPr>
          <p:cNvSpPr txBox="1"/>
          <p:nvPr/>
        </p:nvSpPr>
        <p:spPr>
          <a:xfrm>
            <a:off x="3048778" y="3533583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Watermark 增量追蹤 </a:t>
            </a:r>
          </a:p>
        </p:txBody>
      </p:sp>
    </p:spTree>
    <p:extLst>
      <p:ext uri="{BB962C8B-B14F-4D97-AF65-F5344CB8AC3E}">
        <p14:creationId xmlns:p14="http://schemas.microsoft.com/office/powerpoint/2010/main" val="423104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5B5CB-16F7-C436-1A7A-C130762AB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76EFA99-86EF-720E-79C5-861C10837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 </a:t>
            </a:r>
            <a:r>
              <a:rPr lang="en-US" altLang="zh-TW" dirty="0" err="1"/>
              <a:t>MergeTree</a:t>
            </a:r>
            <a:r>
              <a:rPr lang="en-US" altLang="zh-TW" dirty="0"/>
              <a:t> </a:t>
            </a:r>
            <a:r>
              <a:rPr lang="zh-TW" altLang="en-US" dirty="0"/>
              <a:t>與索引策略 </a:t>
            </a:r>
          </a:p>
        </p:txBody>
      </p:sp>
    </p:spTree>
    <p:extLst>
      <p:ext uri="{BB962C8B-B14F-4D97-AF65-F5344CB8AC3E}">
        <p14:creationId xmlns:p14="http://schemas.microsoft.com/office/powerpoint/2010/main" val="3320809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6786A-C66C-C16E-B4C1-6A9B7120F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B47733C-E91F-063C-6296-892FF8B7F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Bronze → Silver → Gold </a:t>
            </a:r>
            <a:r>
              <a:rPr lang="zh-TW" altLang="en-US" dirty="0"/>
              <a:t>自動化 </a:t>
            </a:r>
          </a:p>
        </p:txBody>
      </p:sp>
    </p:spTree>
    <p:extLst>
      <p:ext uri="{BB962C8B-B14F-4D97-AF65-F5344CB8AC3E}">
        <p14:creationId xmlns:p14="http://schemas.microsoft.com/office/powerpoint/2010/main" val="3805967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F09D0CF-4FB3-3462-BFC4-18D40DB1D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週</a:t>
            </a:r>
            <a:r>
              <a:rPr lang="en-US" altLang="zh-TW" dirty="0"/>
              <a:t>/</a:t>
            </a:r>
            <a:r>
              <a:rPr lang="zh-TW" altLang="en-US" dirty="0"/>
              <a:t>月報表計算邏輯 </a:t>
            </a:r>
          </a:p>
        </p:txBody>
      </p:sp>
    </p:spTree>
    <p:extLst>
      <p:ext uri="{BB962C8B-B14F-4D97-AF65-F5344CB8AC3E}">
        <p14:creationId xmlns:p14="http://schemas.microsoft.com/office/powerpoint/2010/main" val="1763692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1598A-B8B6-299D-81CD-0CB0C3DA9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99BFBDF9-42E3-BB51-EF72-5CB666A33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/>
              <a:t>CNE / WJ2 / NBU / E5</a:t>
            </a:r>
            <a:r>
              <a:rPr lang="zh-TW" altLang="en-US" b="0" dirty="0"/>
              <a:t> </a:t>
            </a:r>
            <a:r>
              <a:rPr lang="zh-TW" altLang="en-US" dirty="0"/>
              <a:t>計算結果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65E4D0A-8CDD-56E8-41F6-E59428F8E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406267"/>
            <a:ext cx="11046488" cy="258276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BBBF16A-1FCE-C1EE-4162-A2FCE8B332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64" r="420"/>
          <a:stretch>
            <a:fillRect/>
          </a:stretch>
        </p:blipFill>
        <p:spPr>
          <a:xfrm>
            <a:off x="406400" y="4053840"/>
            <a:ext cx="11564620" cy="17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068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4CB2C-34DA-B2A6-5A60-B193759AC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72541B13-B093-4831-8D9B-C6A102F1E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/>
              <a:t>CNS / DG3 / SMT / ST02</a:t>
            </a:r>
            <a:r>
              <a:rPr lang="zh-TW" altLang="en-US" b="0" dirty="0"/>
              <a:t> </a:t>
            </a:r>
            <a:r>
              <a:rPr lang="zh-TW" altLang="en-US" dirty="0"/>
              <a:t>計算結果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D9FEB1C-BF78-A7E5-F994-84E398859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9752"/>
            <a:ext cx="12192000" cy="252663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BE581F6-887F-F402-BDAB-E53CA4D38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3949496"/>
            <a:ext cx="11871960" cy="178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431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elta_PPTtemplate_16x9">
  <a:themeElements>
    <a:clrScheme name="自訂 2">
      <a:dk1>
        <a:sysClr val="windowText" lastClr="000000"/>
      </a:dk1>
      <a:lt1>
        <a:sysClr val="window" lastClr="FFFFFF"/>
      </a:lt1>
      <a:dk2>
        <a:srgbClr val="0087DC"/>
      </a:dk2>
      <a:lt2>
        <a:srgbClr val="FFFFFF"/>
      </a:lt2>
      <a:accent1>
        <a:srgbClr val="0087DC"/>
      </a:accent1>
      <a:accent2>
        <a:srgbClr val="64D7D7"/>
      </a:accent2>
      <a:accent3>
        <a:srgbClr val="B9EB5F"/>
      </a:accent3>
      <a:accent4>
        <a:srgbClr val="1E50C8"/>
      </a:accent4>
      <a:accent5>
        <a:srgbClr val="96E6BE"/>
      </a:accent5>
      <a:accent6>
        <a:srgbClr val="00BE50"/>
      </a:accent6>
      <a:hlink>
        <a:srgbClr val="0563C1"/>
      </a:hlink>
      <a:folHlink>
        <a:srgbClr val="BFBFBF"/>
      </a:folHlink>
    </a:clrScheme>
    <a:fontScheme name="自訂 3">
      <a:majorFont>
        <a:latin typeface="Arial"/>
        <a:ea typeface="Microsoft JhengHei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lta_PPTtemplate_16x9_EN" id="{AB7E8207-7EFD-42D6-915B-94A9E5ABAC21}" vid="{115B2ECF-35DF-4A82-A0C0-9889D580E896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2991</TotalTime>
  <Words>228</Words>
  <Application>Microsoft Office PowerPoint</Application>
  <PresentationFormat>寬螢幕</PresentationFormat>
  <Paragraphs>19</Paragraphs>
  <Slides>12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Office 佈景主題</vt:lpstr>
      <vt:lpstr>Delta_PPTtemplate_16x9</vt:lpstr>
      <vt:lpstr>DMP KPI ClickHouse Version</vt:lpstr>
      <vt:lpstr>Smarter. Greener. Together.  </vt:lpstr>
      <vt:lpstr>Row vs Column：為什麼選 ClickHouse</vt:lpstr>
      <vt:lpstr>獎章制度</vt:lpstr>
      <vt:lpstr> 壓縮效益與效能數據 </vt:lpstr>
      <vt:lpstr>ODBC 資料同步機制 </vt:lpstr>
      <vt:lpstr>ODBC 資料同步機制 </vt:lpstr>
      <vt:lpstr> MergeTree 與索引策略 </vt:lpstr>
      <vt:lpstr>Bronze → Silver → Gold 自動化 </vt:lpstr>
      <vt:lpstr>週/月報表計算邏輯 </vt:lpstr>
      <vt:lpstr>CNE / WJ2 / NBU / E5 計算結果</vt:lpstr>
      <vt:lpstr>CNS / DG3 / SMT / ST02 計算結果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ALBEE.LAI 賴詩涵</dc:creator>
  <cp:lastModifiedBy>ALBEE.LAI 賴詩涵</cp:lastModifiedBy>
  <cp:revision>1</cp:revision>
  <dcterms:created xsi:type="dcterms:W3CDTF">2026-04-14T06:56:46Z</dcterms:created>
  <dcterms:modified xsi:type="dcterms:W3CDTF">2026-04-16T08:48:31Z</dcterms:modified>
</cp:coreProperties>
</file>