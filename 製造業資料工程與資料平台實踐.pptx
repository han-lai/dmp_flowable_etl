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48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E9AA3-D061-41A1-8032-90CBEC157281}" type="datetimeFigureOut">
              <a:rPr lang="zh-TW" altLang="en-US" smtClean="0"/>
              <a:t>2026/9/3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F1C63-69EC-4D61-904A-01C3CEF35A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1765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" panose="020B0604030504040204" pitchFamily="34" charset="-120"/>
              </a:rPr>
              <a:t>這份簡報聚焦我的資料工程師職責與能力範圍。三個專案只作為能力證據，用來說明我如何處理資料接入、轉換、儲存、品質、可靠性與交付。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F1C63-69EC-4D61-904A-01C3CEF35AE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3604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" panose="020B0604030504040204" pitchFamily="34" charset="-120"/>
              </a:rPr>
              <a:t>我的角色不是單純將資料搬到資料庫，而是讓資料能被保存、整理、驗證、查詢與交付。工作範圍橫跨來源理解、管線設計、資料處理、儲存設計、品質檢查與資料交付。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F1C63-69EC-4D61-904A-01C3CEF35AE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9196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" panose="020B0604030504040204" pitchFamily="34" charset="-120"/>
              </a:rPr>
              <a:t>製造現場資料分散在不同系統，每個系統有不同資料格式與使用情境。資料工程的價值，是建立穩定、可追蹤、可重用的資料流。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F1C63-69EC-4D61-904A-01C3CEF35AE5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513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" panose="020B0604030504040204" pitchFamily="34" charset="-120"/>
              </a:rPr>
              <a:t>這頁從端到端角度說明資料如何流動。技術名稱不是重點，重點是每個工具在資料供應鏈中負責哪一段。</a:t>
            </a:r>
            <a:r>
              <a:rPr lang="en-US" altLang="zh-TW">
                <a:latin typeface="Microsoft JhengHei" panose="020B0604030504040204" pitchFamily="34" charset="-120"/>
              </a:rPr>
              <a:t>P4 </a:t>
            </a:r>
            <a:r>
              <a:rPr lang="zh-TW" altLang="en-US">
                <a:latin typeface="Microsoft JhengHei" panose="020B0604030504040204" pitchFamily="34" charset="-120"/>
              </a:rPr>
              <a:t>採橫向流程，適合 </a:t>
            </a:r>
            <a:r>
              <a:rPr lang="en-US" altLang="zh-TW">
                <a:latin typeface="Microsoft JhengHei" panose="020B0604030504040204" pitchFamily="34" charset="-120"/>
              </a:rPr>
              <a:t>16:9 </a:t>
            </a:r>
            <a:r>
              <a:rPr lang="zh-TW" altLang="en-US">
                <a:latin typeface="Microsoft JhengHei" panose="020B0604030504040204" pitchFamily="34" charset="-120"/>
              </a:rPr>
              <a:t>投影。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F1C63-69EC-4D61-904A-01C3CEF35AE5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4730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" panose="020B0604030504040204" pitchFamily="34" charset="-120"/>
              </a:rPr>
              <a:t>我的職責不是單點工具操作，而是涵蓋資料管線完整生命週期。從接資料、處理資料，到確保資料可靠、可維護、可交付。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F1C63-69EC-4D61-904A-01C3CEF35AE5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8626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" panose="020B0604030504040204" pitchFamily="34" charset="-120"/>
              </a:rPr>
              <a:t>分層的目的，是讓資料從原始狀態逐步變成可分析、可交付的資料。</a:t>
            </a:r>
            <a:r>
              <a:rPr lang="en-US" altLang="zh-TW">
                <a:latin typeface="Microsoft JhengHei" panose="020B0604030504040204" pitchFamily="34" charset="-120"/>
              </a:rPr>
              <a:t>CFX </a:t>
            </a:r>
            <a:r>
              <a:rPr lang="zh-TW" altLang="en-US">
                <a:latin typeface="Microsoft JhengHei" panose="020B0604030504040204" pitchFamily="34" charset="-120"/>
              </a:rPr>
              <a:t>主要支撐 </a:t>
            </a:r>
            <a:r>
              <a:rPr lang="en-US" altLang="zh-TW">
                <a:latin typeface="Microsoft JhengHei" panose="020B0604030504040204" pitchFamily="34" charset="-120"/>
              </a:rPr>
              <a:t>Raw / Bronze</a:t>
            </a:r>
            <a:r>
              <a:rPr lang="zh-TW" altLang="en-US">
                <a:latin typeface="Microsoft JhengHei" panose="020B0604030504040204" pitchFamily="34" charset="-120"/>
              </a:rPr>
              <a:t>；</a:t>
            </a:r>
            <a:r>
              <a:rPr lang="en-US" altLang="zh-TW">
                <a:latin typeface="Microsoft JhengHei" panose="020B0604030504040204" pitchFamily="34" charset="-120"/>
              </a:rPr>
              <a:t>DMP Flowable </a:t>
            </a:r>
            <a:r>
              <a:rPr lang="zh-TW" altLang="en-US">
                <a:latin typeface="Microsoft JhengHei" panose="020B0604030504040204" pitchFamily="34" charset="-120"/>
              </a:rPr>
              <a:t>涵蓋 </a:t>
            </a:r>
            <a:r>
              <a:rPr lang="en-US" altLang="zh-TW">
                <a:latin typeface="Microsoft JhengHei" panose="020B0604030504040204" pitchFamily="34" charset="-120"/>
              </a:rPr>
              <a:t>Bronze</a:t>
            </a:r>
            <a:r>
              <a:rPr lang="zh-TW" altLang="en-US">
                <a:latin typeface="Microsoft JhengHei" panose="020B0604030504040204" pitchFamily="34" charset="-120"/>
              </a:rPr>
              <a:t>、</a:t>
            </a:r>
            <a:r>
              <a:rPr lang="en-US" altLang="zh-TW">
                <a:latin typeface="Microsoft JhengHei" panose="020B0604030504040204" pitchFamily="34" charset="-120"/>
              </a:rPr>
              <a:t>Silver</a:t>
            </a:r>
            <a:r>
              <a:rPr lang="zh-TW" altLang="en-US">
                <a:latin typeface="Microsoft JhengHei" panose="020B0604030504040204" pitchFamily="34" charset="-120"/>
              </a:rPr>
              <a:t>、</a:t>
            </a:r>
            <a:r>
              <a:rPr lang="en-US" altLang="zh-TW">
                <a:latin typeface="Microsoft JhengHei" panose="020B0604030504040204" pitchFamily="34" charset="-120"/>
              </a:rPr>
              <a:t>Gold </a:t>
            </a:r>
            <a:r>
              <a:rPr lang="zh-TW" altLang="en-US">
                <a:latin typeface="Microsoft JhengHei" panose="020B0604030504040204" pitchFamily="34" charset="-120"/>
              </a:rPr>
              <a:t>到 </a:t>
            </a:r>
            <a:r>
              <a:rPr lang="en-US" altLang="zh-TW">
                <a:latin typeface="Microsoft JhengHei" panose="020B0604030504040204" pitchFamily="34" charset="-120"/>
              </a:rPr>
              <a:t>Cube.js</a:t>
            </a:r>
            <a:r>
              <a:rPr lang="zh-TW" altLang="en-US">
                <a:latin typeface="Microsoft JhengHei" panose="020B0604030504040204" pitchFamily="34" charset="-120"/>
              </a:rPr>
              <a:t>；</a:t>
            </a:r>
            <a:r>
              <a:rPr lang="en-US" altLang="zh-TW">
                <a:latin typeface="Microsoft JhengHei" panose="020B0604030504040204" pitchFamily="34" charset="-120"/>
              </a:rPr>
              <a:t>Doris-SeaTunnel POC </a:t>
            </a:r>
            <a:r>
              <a:rPr lang="zh-TW" altLang="en-US">
                <a:latin typeface="Microsoft JhengHei" panose="020B0604030504040204" pitchFamily="34" charset="-120"/>
              </a:rPr>
              <a:t>驗證資料匯流與 </a:t>
            </a:r>
            <a:r>
              <a:rPr lang="en-US" altLang="zh-TW">
                <a:latin typeface="Microsoft JhengHei" panose="020B0604030504040204" pitchFamily="34" charset="-120"/>
              </a:rPr>
              <a:t>Doris </a:t>
            </a:r>
            <a:r>
              <a:rPr lang="zh-TW" altLang="en-US">
                <a:latin typeface="Microsoft JhengHei" panose="020B0604030504040204" pitchFamily="34" charset="-120"/>
              </a:rPr>
              <a:t>儲存能力。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F1C63-69EC-4D61-904A-01C3CEF35AE5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088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" panose="020B0604030504040204" pitchFamily="34" charset="-120"/>
              </a:rPr>
              <a:t>這頁用能力矩陣說明三個專案如何支撐我的資料工程能力。</a:t>
            </a:r>
            <a:r>
              <a:rPr lang="en-US" altLang="zh-TW">
                <a:latin typeface="Microsoft JhengHei" panose="020B0604030504040204" pitchFamily="34" charset="-120"/>
              </a:rPr>
              <a:t>CFX </a:t>
            </a:r>
            <a:r>
              <a:rPr lang="zh-TW" altLang="en-US">
                <a:latin typeface="Microsoft JhengHei" panose="020B0604030504040204" pitchFamily="34" charset="-120"/>
              </a:rPr>
              <a:t>是實際參與，重點在 </a:t>
            </a:r>
            <a:r>
              <a:rPr lang="en-US" altLang="zh-TW">
                <a:latin typeface="Microsoft JhengHei" panose="020B0604030504040204" pitchFamily="34" charset="-120"/>
              </a:rPr>
              <a:t>Kafka</a:t>
            </a:r>
            <a:r>
              <a:rPr lang="zh-TW" altLang="en-US">
                <a:latin typeface="Microsoft JhengHei" panose="020B0604030504040204" pitchFamily="34" charset="-120"/>
              </a:rPr>
              <a:t>、</a:t>
            </a:r>
            <a:r>
              <a:rPr lang="en-US" altLang="zh-TW">
                <a:latin typeface="Microsoft JhengHei" panose="020B0604030504040204" pitchFamily="34" charset="-120"/>
              </a:rPr>
              <a:t>Airflow</a:t>
            </a:r>
            <a:r>
              <a:rPr lang="zh-TW" altLang="en-US">
                <a:latin typeface="Microsoft JhengHei" panose="020B0604030504040204" pitchFamily="34" charset="-120"/>
              </a:rPr>
              <a:t>、</a:t>
            </a:r>
            <a:r>
              <a:rPr lang="en-US" altLang="zh-TW">
                <a:latin typeface="Microsoft JhengHei" panose="020B0604030504040204" pitchFamily="34" charset="-120"/>
              </a:rPr>
              <a:t>S3</a:t>
            </a:r>
            <a:r>
              <a:rPr lang="zh-TW" altLang="en-US">
                <a:latin typeface="Microsoft JhengHei" panose="020B0604030504040204" pitchFamily="34" charset="-120"/>
              </a:rPr>
              <a:t>、</a:t>
            </a:r>
            <a:r>
              <a:rPr lang="en-US" altLang="zh-TW">
                <a:latin typeface="Microsoft JhengHei" panose="020B0604030504040204" pitchFamily="34" charset="-120"/>
              </a:rPr>
              <a:t>offset </a:t>
            </a:r>
            <a:r>
              <a:rPr lang="zh-TW" altLang="en-US">
                <a:latin typeface="Microsoft JhengHei" panose="020B0604030504040204" pitchFamily="34" charset="-120"/>
              </a:rPr>
              <a:t>與監控；</a:t>
            </a:r>
            <a:r>
              <a:rPr lang="en-US" altLang="zh-TW">
                <a:latin typeface="Microsoft JhengHei" panose="020B0604030504040204" pitchFamily="34" charset="-120"/>
              </a:rPr>
              <a:t>Doris-SeaTunnel </a:t>
            </a:r>
            <a:r>
              <a:rPr lang="zh-TW" altLang="en-US">
                <a:latin typeface="Microsoft JhengHei" panose="020B0604030504040204" pitchFamily="34" charset="-120"/>
              </a:rPr>
              <a:t>是技術選型驗證；</a:t>
            </a:r>
            <a:r>
              <a:rPr lang="en-US" altLang="zh-TW">
                <a:latin typeface="Microsoft JhengHei" panose="020B0604030504040204" pitchFamily="34" charset="-120"/>
              </a:rPr>
              <a:t>DMP Flowable </a:t>
            </a:r>
            <a:r>
              <a:rPr lang="zh-TW" altLang="en-US">
                <a:latin typeface="Microsoft JhengHei" panose="020B0604030504040204" pitchFamily="34" charset="-120"/>
              </a:rPr>
              <a:t>是實際參與，重點在 </a:t>
            </a:r>
            <a:r>
              <a:rPr lang="en-US" altLang="zh-TW">
                <a:latin typeface="Microsoft JhengHei" panose="020B0604030504040204" pitchFamily="34" charset="-120"/>
              </a:rPr>
              <a:t>ClickHouse </a:t>
            </a:r>
            <a:r>
              <a:rPr lang="zh-TW" altLang="en-US">
                <a:latin typeface="Microsoft JhengHei" panose="020B0604030504040204" pitchFamily="34" charset="-120"/>
              </a:rPr>
              <a:t>分層、</a:t>
            </a:r>
            <a:r>
              <a:rPr lang="en-US" altLang="zh-TW">
                <a:latin typeface="Microsoft JhengHei" panose="020B0604030504040204" pitchFamily="34" charset="-120"/>
              </a:rPr>
              <a:t>Gold </a:t>
            </a:r>
            <a:r>
              <a:rPr lang="zh-TW" altLang="en-US">
                <a:latin typeface="Microsoft JhengHei" panose="020B0604030504040204" pitchFamily="34" charset="-120"/>
              </a:rPr>
              <a:t>聚合與 </a:t>
            </a:r>
            <a:r>
              <a:rPr lang="en-US" altLang="zh-TW">
                <a:latin typeface="Microsoft JhengHei" panose="020B0604030504040204" pitchFamily="34" charset="-120"/>
              </a:rPr>
              <a:t>Cube.js </a:t>
            </a:r>
            <a:r>
              <a:rPr lang="zh-TW" altLang="en-US">
                <a:latin typeface="Microsoft JhengHei" panose="020B0604030504040204" pitchFamily="34" charset="-120"/>
              </a:rPr>
              <a:t>交付。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F1C63-69EC-4D61-904A-01C3CEF35AE5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6279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Microsoft JhengHei" panose="020B0604030504040204" pitchFamily="34" charset="-120"/>
              </a:rPr>
              <a:t>CFX </a:t>
            </a:r>
            <a:r>
              <a:rPr lang="zh-TW" altLang="en-US">
                <a:latin typeface="Microsoft JhengHei" panose="020B0604030504040204" pitchFamily="34" charset="-120"/>
              </a:rPr>
              <a:t>專案中，</a:t>
            </a:r>
            <a:r>
              <a:rPr lang="en-US" altLang="zh-TW">
                <a:latin typeface="Microsoft JhengHei" panose="020B0604030504040204" pitchFamily="34" charset="-120"/>
              </a:rPr>
              <a:t>Kafka offset </a:t>
            </a:r>
            <a:r>
              <a:rPr lang="zh-TW" altLang="en-US">
                <a:latin typeface="Microsoft JhengHei" panose="020B0604030504040204" pitchFamily="34" charset="-120"/>
              </a:rPr>
              <a:t>只在 </a:t>
            </a:r>
            <a:r>
              <a:rPr lang="en-US" altLang="zh-TW">
                <a:latin typeface="Microsoft JhengHei" panose="020B0604030504040204" pitchFamily="34" charset="-120"/>
              </a:rPr>
              <a:t>S3 Parquet </a:t>
            </a:r>
            <a:r>
              <a:rPr lang="zh-TW" altLang="en-US">
                <a:latin typeface="Microsoft JhengHei" panose="020B0604030504040204" pitchFamily="34" charset="-120"/>
              </a:rPr>
              <a:t>成功寫入後 </a:t>
            </a:r>
            <a:r>
              <a:rPr lang="en-US" altLang="zh-TW">
                <a:latin typeface="Microsoft JhengHei" panose="020B0604030504040204" pitchFamily="34" charset="-120"/>
              </a:rPr>
              <a:t>commit</a:t>
            </a:r>
            <a:r>
              <a:rPr lang="zh-TW" altLang="en-US">
                <a:latin typeface="Microsoft JhengHei" panose="020B0604030504040204" pitchFamily="34" charset="-120"/>
              </a:rPr>
              <a:t>。指定日期重跑時，透過 </a:t>
            </a:r>
            <a:r>
              <a:rPr lang="en-US" altLang="zh-TW">
                <a:latin typeface="Microsoft JhengHei" panose="020B0604030504040204" pitchFamily="34" charset="-120"/>
              </a:rPr>
              <a:t>DELETE </a:t>
            </a:r>
            <a:r>
              <a:rPr lang="zh-TW" altLang="en-US">
                <a:latin typeface="Microsoft JhengHei" panose="020B0604030504040204" pitchFamily="34" charset="-120"/>
              </a:rPr>
              <a:t>既有 </a:t>
            </a:r>
            <a:r>
              <a:rPr lang="en-US" altLang="zh-TW">
                <a:latin typeface="Microsoft JhengHei" panose="020B0604030504040204" pitchFamily="34" charset="-120"/>
              </a:rPr>
              <a:t>partition</a:t>
            </a:r>
            <a:r>
              <a:rPr lang="zh-TW" altLang="en-US">
                <a:latin typeface="Microsoft JhengHei" panose="020B0604030504040204" pitchFamily="34" charset="-120"/>
              </a:rPr>
              <a:t>，再重新消費相同 </a:t>
            </a:r>
            <a:r>
              <a:rPr lang="en-US" altLang="zh-TW">
                <a:latin typeface="Microsoft JhengHei" panose="020B0604030504040204" pitchFamily="34" charset="-120"/>
              </a:rPr>
              <a:t>offset range</a:t>
            </a:r>
            <a:r>
              <a:rPr lang="zh-TW" altLang="en-US">
                <a:latin typeface="Microsoft JhengHei" panose="020B0604030504040204" pitchFamily="34" charset="-120"/>
              </a:rPr>
              <a:t>，避免重複資料。</a:t>
            </a:r>
            <a:r>
              <a:rPr lang="en-US" altLang="zh-TW">
                <a:latin typeface="Microsoft JhengHei" panose="020B0604030504040204" pitchFamily="34" charset="-120"/>
              </a:rPr>
              <a:t>DMP Flowable </a:t>
            </a:r>
            <a:r>
              <a:rPr lang="zh-TW" altLang="en-US">
                <a:latin typeface="Microsoft JhengHei" panose="020B0604030504040204" pitchFamily="34" charset="-120"/>
              </a:rPr>
              <a:t>透過 </a:t>
            </a:r>
            <a:r>
              <a:rPr lang="en-US" altLang="zh-TW">
                <a:latin typeface="Microsoft JhengHei" panose="020B0604030504040204" pitchFamily="34" charset="-120"/>
              </a:rPr>
              <a:t>_sync_watermark </a:t>
            </a:r>
            <a:r>
              <a:rPr lang="zh-TW" altLang="en-US">
                <a:latin typeface="Microsoft JhengHei" panose="020B0604030504040204" pitchFamily="34" charset="-120"/>
              </a:rPr>
              <a:t>追蹤同步進度。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F1C63-69EC-4D61-904A-01C3CEF35AE5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4067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" panose="020B0604030504040204" pitchFamily="34" charset="-120"/>
              </a:rPr>
              <a:t>品質檢核確保資料是否完整、成功、可追蹤。效能與資源管理用來避免大型訊息或大量資料造成 </a:t>
            </a:r>
            <a:r>
              <a:rPr lang="en-US" altLang="zh-TW">
                <a:latin typeface="Microsoft JhengHei" panose="020B0604030504040204" pitchFamily="34" charset="-120"/>
              </a:rPr>
              <a:t>OOM </a:t>
            </a:r>
            <a:r>
              <a:rPr lang="zh-TW" altLang="en-US">
                <a:latin typeface="Microsoft JhengHei" panose="020B0604030504040204" pitchFamily="34" charset="-120"/>
              </a:rPr>
              <a:t>或查詢效能問題。可觀測性讓任務失敗、資料落差與效能瓶頸可以被追蹤。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F1C63-69EC-4D61-904A-01C3CEF35AE5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5674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" panose="020B0604030504040204" pitchFamily="34" charset="-120"/>
              </a:rPr>
              <a:t>資料工程師需要把業務需求、來源限制、平台能力與交付方式串起來。</a:t>
            </a:r>
            <a:r>
              <a:rPr lang="en-US" altLang="zh-TW">
                <a:latin typeface="Microsoft JhengHei" panose="020B0604030504040204" pitchFamily="34" charset="-120"/>
              </a:rPr>
              <a:t>DMP Flowable </a:t>
            </a:r>
            <a:r>
              <a:rPr lang="zh-TW" altLang="en-US">
                <a:latin typeface="Microsoft JhengHei" panose="020B0604030504040204" pitchFamily="34" charset="-120"/>
              </a:rPr>
              <a:t>需要理解流程歷史、</a:t>
            </a:r>
            <a:r>
              <a:rPr lang="en-US" altLang="zh-TW">
                <a:latin typeface="Microsoft JhengHei" panose="020B0604030504040204" pitchFamily="34" charset="-120"/>
              </a:rPr>
              <a:t>DMP </a:t>
            </a:r>
            <a:r>
              <a:rPr lang="zh-TW" altLang="en-US">
                <a:latin typeface="Microsoft JhengHei" panose="020B0604030504040204" pitchFamily="34" charset="-120"/>
              </a:rPr>
              <a:t>組織資料與 </a:t>
            </a:r>
            <a:r>
              <a:rPr lang="en-US" altLang="zh-TW">
                <a:latin typeface="Microsoft JhengHei" panose="020B0604030504040204" pitchFamily="34" charset="-120"/>
              </a:rPr>
              <a:t>L5 </a:t>
            </a:r>
            <a:r>
              <a:rPr lang="zh-TW" altLang="en-US">
                <a:latin typeface="Microsoft JhengHei" panose="020B0604030504040204" pitchFamily="34" charset="-120"/>
              </a:rPr>
              <a:t>指標；</a:t>
            </a:r>
            <a:r>
              <a:rPr lang="en-US" altLang="zh-TW">
                <a:latin typeface="Microsoft JhengHei" panose="020B0604030504040204" pitchFamily="34" charset="-120"/>
              </a:rPr>
              <a:t>CFX </a:t>
            </a:r>
            <a:r>
              <a:rPr lang="zh-TW" altLang="en-US">
                <a:latin typeface="Microsoft JhengHei" panose="020B0604030504040204" pitchFamily="34" charset="-120"/>
              </a:rPr>
              <a:t>與 </a:t>
            </a:r>
            <a:r>
              <a:rPr lang="en-US" altLang="zh-TW">
                <a:latin typeface="Microsoft JhengHei" panose="020B0604030504040204" pitchFamily="34" charset="-120"/>
              </a:rPr>
              <a:t>Doris-SeaTunnel </a:t>
            </a:r>
            <a:r>
              <a:rPr lang="zh-TW" altLang="en-US">
                <a:latin typeface="Microsoft JhengHei" panose="020B0604030504040204" pitchFamily="34" charset="-120"/>
              </a:rPr>
              <a:t>則涉及 </a:t>
            </a:r>
            <a:r>
              <a:rPr lang="en-US" altLang="zh-TW">
                <a:latin typeface="Microsoft JhengHei" panose="020B0604030504040204" pitchFamily="34" charset="-120"/>
              </a:rPr>
              <a:t>Kafka</a:t>
            </a:r>
            <a:r>
              <a:rPr lang="zh-TW" altLang="en-US">
                <a:latin typeface="Microsoft JhengHei" panose="020B0604030504040204" pitchFamily="34" charset="-120"/>
              </a:rPr>
              <a:t>、來源系統、資料儲存與平台服務。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F1C63-69EC-4D61-904A-01C3CEF35AE5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2970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" panose="020B0604030504040204" pitchFamily="34" charset="-120"/>
              </a:rPr>
              <a:t>我的能力可以總結為四個面向。我能處理資料管線從接入、處理、儲存、建模到交付的核心工程問題。三個專案共同證明的是能力範圍，而不是三段互不相關的專案經歷。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F1C63-69EC-4D61-904A-01C3CEF35AE5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66699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" panose="020B0604030504040204" pitchFamily="34" charset="-120"/>
              </a:rPr>
              <a:t>結尾回到主軸：我的價值是建立穩定、可追蹤、可重用、可交付的資料供應鏈。</a:t>
            </a:r>
            <a:r>
              <a:rPr lang="en-US" altLang="zh-TW">
                <a:latin typeface="Microsoft JhengHei" panose="020B0604030504040204" pitchFamily="34" charset="-120"/>
              </a:rPr>
              <a:t>CFX </a:t>
            </a:r>
            <a:r>
              <a:rPr lang="zh-TW" altLang="en-US">
                <a:latin typeface="Microsoft JhengHei" panose="020B0604030504040204" pitchFamily="34" charset="-120"/>
              </a:rPr>
              <a:t>證明我能處理即時製造訊息接入與可靠性；</a:t>
            </a:r>
            <a:r>
              <a:rPr lang="en-US" altLang="zh-TW">
                <a:latin typeface="Microsoft JhengHei" panose="020B0604030504040204" pitchFamily="34" charset="-120"/>
              </a:rPr>
              <a:t>DMP Flowable </a:t>
            </a:r>
            <a:r>
              <a:rPr lang="zh-TW" altLang="en-US">
                <a:latin typeface="Microsoft JhengHei" panose="020B0604030504040204" pitchFamily="34" charset="-120"/>
              </a:rPr>
              <a:t>證明我能做資料分層、建模、聚合與 </a:t>
            </a:r>
            <a:r>
              <a:rPr lang="en-US" altLang="zh-TW">
                <a:latin typeface="Microsoft JhengHei" panose="020B0604030504040204" pitchFamily="34" charset="-120"/>
              </a:rPr>
              <a:t>BI </a:t>
            </a:r>
            <a:r>
              <a:rPr lang="zh-TW" altLang="en-US">
                <a:latin typeface="Microsoft JhengHei" panose="020B0604030504040204" pitchFamily="34" charset="-120"/>
              </a:rPr>
              <a:t>語義層；</a:t>
            </a:r>
            <a:r>
              <a:rPr lang="en-US" altLang="zh-TW">
                <a:latin typeface="Microsoft JhengHei" panose="020B0604030504040204" pitchFamily="34" charset="-120"/>
              </a:rPr>
              <a:t>Doris-SeaTunnel POC </a:t>
            </a:r>
            <a:r>
              <a:rPr lang="zh-TW" altLang="en-US">
                <a:latin typeface="Microsoft JhengHei" panose="020B0604030504040204" pitchFamily="34" charset="-120"/>
              </a:rPr>
              <a:t>證明我能進行資料平台技術選型與可行性驗證。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F1C63-69EC-4D61-904A-01C3CEF35AE5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0560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F38514-2BBA-0904-6797-3B4FA7A51E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924AD17-0CCC-8E70-04D1-975A93804D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6D95EC-B7D2-5FC1-5808-634EC767A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CCCC-FC20-4E85-A29A-AE5E772ACC63}" type="datetimeFigureOut">
              <a:rPr lang="zh-TW" altLang="en-US" smtClean="0"/>
              <a:t>2026/9/3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EF8DAE-AF3E-8685-24C2-33F12C033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649D74-C1D6-FEED-6C57-407259FE8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C53C-CB9D-4731-88B4-6B10C6C3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2484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8C590A-CD83-553E-A7CC-A0C5EA791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7FC497-05C7-F718-1EC0-F45ECA7E2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346A43-009C-BF70-163E-678B361EC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CCCC-FC20-4E85-A29A-AE5E772ACC63}" type="datetimeFigureOut">
              <a:rPr lang="zh-TW" altLang="en-US" smtClean="0"/>
              <a:t>2026/9/3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A6518A-7D26-CC3F-9352-0DB5B1C32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FF8128-C73C-8687-8B1F-5EF168E44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C53C-CB9D-4731-88B4-6B10C6C3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008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B5D3E6-7DB4-CD83-452F-F99574AD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970BBA-41ED-83F5-C454-5B2387AAF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8F1F48-2B14-2AF2-4916-01316CF8C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CCCC-FC20-4E85-A29A-AE5E772ACC63}" type="datetimeFigureOut">
              <a:rPr lang="zh-TW" altLang="en-US" smtClean="0"/>
              <a:t>2026/9/3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CB883E-91D4-0745-8AD1-0DC90DD3D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765FED-1758-44C0-F9A7-07742E290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C53C-CB9D-4731-88B4-6B10C6C3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8765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2A9215-1E0C-207D-DA1D-6ABAE36B7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9A9AC2-51DE-62DD-E092-A436DFFB6D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29F0B5F-BBFA-D88E-1596-B9C6536BA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91AF8BE-F68E-5CC1-D076-512ECBDD8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CCCC-FC20-4E85-A29A-AE5E772ACC63}" type="datetimeFigureOut">
              <a:rPr lang="zh-TW" altLang="en-US" smtClean="0"/>
              <a:t>2026/9/3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3BAF1E9-5F69-4ABC-061E-267011602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7DE4CF0-CDEA-B078-B71A-1D54FF303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C53C-CB9D-4731-88B4-6B10C6C3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7793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93B63F-1835-ED0E-E2FE-5CC3B576B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35F970F-2EA1-6E65-8EAB-6538A9D1A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F0F3796-EF94-4947-232C-F05C22817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C46BB31-6A10-0EDA-0F4E-3AA8B1AE55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64CCFC1-276D-33C1-C344-E401BE5A08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CDBD400-7AF9-04E5-7EC1-234FD43B8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CCCC-FC20-4E85-A29A-AE5E772ACC63}" type="datetimeFigureOut">
              <a:rPr lang="zh-TW" altLang="en-US" smtClean="0"/>
              <a:t>2026/9/3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F191805-AAD4-08E8-46DA-227811E67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B47F563-5A88-1A07-C5D8-9BDFACF92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C53C-CB9D-4731-88B4-6B10C6C3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9307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516B65-23D4-4F40-667B-741F0392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CFC061B-972C-766B-0D0E-B29DC69C4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CCCC-FC20-4E85-A29A-AE5E772ACC63}" type="datetimeFigureOut">
              <a:rPr lang="zh-TW" altLang="en-US" smtClean="0"/>
              <a:t>2026/9/3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4CEB735-73E2-A514-605B-AD576B621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5140D6E-BF3E-29AF-AA0A-7A2D3B0F8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C53C-CB9D-4731-88B4-6B10C6C3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7370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EC94B4B-702F-500C-4D74-75F0C6EA7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CCCC-FC20-4E85-A29A-AE5E772ACC63}" type="datetimeFigureOut">
              <a:rPr lang="zh-TW" altLang="en-US" smtClean="0"/>
              <a:t>2026/9/3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8C9660A-3EA1-2168-509E-4899BBE2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7EDDFD-A53D-DD59-6A53-58443F41E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C53C-CB9D-4731-88B4-6B10C6C3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0141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B9C216-DC1B-1234-297B-E8AFCF969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B940386-2A3A-6429-B5FD-91C69D65E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0955CB0-D454-E5B8-DBFB-F2EA9AF2F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5B51F2A-A0DE-AEE7-392B-833ADE6A1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CCCC-FC20-4E85-A29A-AE5E772ACC63}" type="datetimeFigureOut">
              <a:rPr lang="zh-TW" altLang="en-US" smtClean="0"/>
              <a:t>2026/9/3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27B240E-D687-0F00-7E9D-81DA7A76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E629A0B-8EDD-6DE4-C79A-4733FFA11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C53C-CB9D-4731-88B4-6B10C6C3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9436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F6CA6E-962C-01BA-9200-FEC192439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B46ABAA-8CBB-2408-8F77-1EF5A469A0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76539B2-B628-B504-DD37-4D5A55FC9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7F3DEDE-0E92-3C4C-8FCD-DFAE85261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CCCC-FC20-4E85-A29A-AE5E772ACC63}" type="datetimeFigureOut">
              <a:rPr lang="zh-TW" altLang="en-US" smtClean="0"/>
              <a:t>2026/9/3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DA6FC66-1FD8-223B-3F41-4762CDA40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8240FE3-BD2F-39AF-E194-04C41A255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C53C-CB9D-4731-88B4-6B10C6C3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BE213D-1820-B6D4-D409-2B0EC1666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7FC76D2-8D72-4F36-9873-64DD85ED8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6A5A81-5F8D-1C06-FE60-E4900D197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CCCC-FC20-4E85-A29A-AE5E772ACC63}" type="datetimeFigureOut">
              <a:rPr lang="zh-TW" altLang="en-US" smtClean="0"/>
              <a:t>2026/9/3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10FA42-E276-8591-EC7F-75965EE06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001269-41AF-6E4A-E857-403A449CC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C53C-CB9D-4731-88B4-6B10C6C3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9310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4173BB3-CFC7-3C22-BF55-6921CA27CC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06541DB-012E-6A14-F404-E41C7FA6FE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A3A068-26EA-70D3-05B9-9B2A4BB96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CCCC-FC20-4E85-A29A-AE5E772ACC63}" type="datetimeFigureOut">
              <a:rPr lang="zh-TW" altLang="en-US" smtClean="0"/>
              <a:t>2026/9/3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C19512-7420-1833-AF14-C540D24A7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091D6C3-4CBF-0A24-D936-BB7E8CDCC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C53C-CB9D-4731-88B4-6B10C6C3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0949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30B3BDE-0AE8-9F6F-8041-1238FCE18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438E9DA-2628-0339-DE0A-4A16C6B94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0D67F9C-BCDE-2F91-07C4-0DAA0A7168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2CCCC-FC20-4E85-A29A-AE5E772ACC63}" type="datetimeFigureOut">
              <a:rPr lang="zh-TW" altLang="en-US" smtClean="0"/>
              <a:t>2026/9/3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C0EFDA-5682-0B7F-60CA-94AE0BAC0B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82E98B-55D9-3F8B-6940-19469B2D9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9C53C-CB9D-4731-88B4-6B10C6C3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7331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AD4EDCB-AE21-C36C-44C3-039C43A2D842}"/>
              </a:ext>
            </a:extLst>
          </p:cNvPr>
          <p:cNvSpPr txBox="1"/>
          <p:nvPr/>
        </p:nvSpPr>
        <p:spPr>
          <a:xfrm>
            <a:off x="889000" y="2159000"/>
            <a:ext cx="10414000" cy="62581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zh-TW" altLang="en-US" sz="3400" b="1">
                <a:solidFill>
                  <a:srgbClr val="183055"/>
                </a:solidFill>
                <a:latin typeface="Microsoft JhengHei" panose="020B0604030504040204" pitchFamily="34" charset="-120"/>
              </a:rPr>
              <a:t>製造業資料工程與資料平台實踐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419B73-19A2-053D-D9BA-EA96CC1230B3}"/>
              </a:ext>
            </a:extLst>
          </p:cNvPr>
          <p:cNvSpPr txBox="1"/>
          <p:nvPr/>
        </p:nvSpPr>
        <p:spPr>
          <a:xfrm>
            <a:off x="889000" y="3022600"/>
            <a:ext cx="10414000" cy="410369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zh-TW" altLang="en-US" sz="2000">
                <a:solidFill>
                  <a:srgbClr val="2B5B9A"/>
                </a:solidFill>
                <a:latin typeface="Microsoft JhengHei" panose="020B0604030504040204" pitchFamily="34" charset="-120"/>
              </a:rPr>
              <a:t>從資料接入到 </a:t>
            </a:r>
            <a:r>
              <a:rPr lang="en-US" altLang="zh-TW" sz="2000">
                <a:solidFill>
                  <a:srgbClr val="2B5B9A"/>
                </a:solidFill>
                <a:latin typeface="Microsoft JhengHei" panose="020B0604030504040204" pitchFamily="34" charset="-120"/>
              </a:rPr>
              <a:t>BI </a:t>
            </a:r>
            <a:r>
              <a:rPr lang="zh-TW" altLang="en-US" sz="2000">
                <a:solidFill>
                  <a:srgbClr val="2B5B9A"/>
                </a:solidFill>
                <a:latin typeface="Microsoft JhengHei" panose="020B0604030504040204" pitchFamily="34" charset="-120"/>
              </a:rPr>
              <a:t>資料產品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9719A84-9436-F00F-0CC9-6536F3C6D6EB}"/>
              </a:ext>
            </a:extLst>
          </p:cNvPr>
          <p:cNvSpPr/>
          <p:nvPr/>
        </p:nvSpPr>
        <p:spPr>
          <a:xfrm>
            <a:off x="1333500" y="4292600"/>
            <a:ext cx="147320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300" b="1">
                <a:solidFill>
                  <a:srgbClr val="183055"/>
                </a:solidFill>
                <a:latin typeface="Microsoft JhengHei" panose="020B0604030504040204" pitchFamily="34" charset="-120"/>
              </a:rPr>
              <a:t>來源系統</a:t>
            </a: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7747A818-C55E-AF46-C032-54174615D621}"/>
              </a:ext>
            </a:extLst>
          </p:cNvPr>
          <p:cNvCxnSpPr/>
          <p:nvPr/>
        </p:nvCxnSpPr>
        <p:spPr>
          <a:xfrm>
            <a:off x="2806700" y="4559300"/>
            <a:ext cx="431800" cy="0"/>
          </a:xfrm>
          <a:prstGeom prst="straightConnector1">
            <a:avLst/>
          </a:prstGeom>
          <a:ln w="25400">
            <a:solidFill>
              <a:srgbClr val="2B5B9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0AF36D6-C83E-99D5-608E-AB366AAA5EAD}"/>
              </a:ext>
            </a:extLst>
          </p:cNvPr>
          <p:cNvSpPr/>
          <p:nvPr/>
        </p:nvSpPr>
        <p:spPr>
          <a:xfrm>
            <a:off x="3263900" y="4292600"/>
            <a:ext cx="147320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300" b="1">
                <a:solidFill>
                  <a:srgbClr val="183055"/>
                </a:solidFill>
                <a:latin typeface="Microsoft JhengHei" panose="020B0604030504040204" pitchFamily="34" charset="-120"/>
              </a:rPr>
              <a:t>資料接入</a:t>
            </a: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3DB5BF20-6D2B-97AA-0990-3895B136A9D1}"/>
              </a:ext>
            </a:extLst>
          </p:cNvPr>
          <p:cNvCxnSpPr/>
          <p:nvPr/>
        </p:nvCxnSpPr>
        <p:spPr>
          <a:xfrm>
            <a:off x="4737100" y="4559300"/>
            <a:ext cx="431800" cy="0"/>
          </a:xfrm>
          <a:prstGeom prst="straightConnector1">
            <a:avLst/>
          </a:prstGeom>
          <a:ln w="25400">
            <a:solidFill>
              <a:srgbClr val="2B5B9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AD8CC3F-B088-05A6-2299-47CDBD8B380C}"/>
              </a:ext>
            </a:extLst>
          </p:cNvPr>
          <p:cNvSpPr/>
          <p:nvPr/>
        </p:nvSpPr>
        <p:spPr>
          <a:xfrm>
            <a:off x="5194300" y="4292600"/>
            <a:ext cx="147320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300" b="1">
                <a:solidFill>
                  <a:srgbClr val="183055"/>
                </a:solidFill>
                <a:latin typeface="Microsoft JhengHei" panose="020B0604030504040204" pitchFamily="34" charset="-120"/>
              </a:rPr>
              <a:t>資料處理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135B7541-6EC3-D2EB-22D3-855E6E4B4B90}"/>
              </a:ext>
            </a:extLst>
          </p:cNvPr>
          <p:cNvCxnSpPr/>
          <p:nvPr/>
        </p:nvCxnSpPr>
        <p:spPr>
          <a:xfrm>
            <a:off x="6667500" y="4559300"/>
            <a:ext cx="431800" cy="0"/>
          </a:xfrm>
          <a:prstGeom prst="straightConnector1">
            <a:avLst/>
          </a:prstGeom>
          <a:ln w="25400">
            <a:solidFill>
              <a:srgbClr val="2B5B9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A011B00-222D-57A2-DE00-EF69BD2C3503}"/>
              </a:ext>
            </a:extLst>
          </p:cNvPr>
          <p:cNvSpPr/>
          <p:nvPr/>
        </p:nvSpPr>
        <p:spPr>
          <a:xfrm>
            <a:off x="7124700" y="4292600"/>
            <a:ext cx="147320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300" b="1">
                <a:solidFill>
                  <a:srgbClr val="183055"/>
                </a:solidFill>
                <a:latin typeface="Microsoft JhengHei" panose="020B0604030504040204" pitchFamily="34" charset="-120"/>
              </a:rPr>
              <a:t>資料儲存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6821615-AD85-6A6B-5186-A492E6C6B1B3}"/>
              </a:ext>
            </a:extLst>
          </p:cNvPr>
          <p:cNvCxnSpPr/>
          <p:nvPr/>
        </p:nvCxnSpPr>
        <p:spPr>
          <a:xfrm>
            <a:off x="8597900" y="4559300"/>
            <a:ext cx="431800" cy="0"/>
          </a:xfrm>
          <a:prstGeom prst="straightConnector1">
            <a:avLst/>
          </a:prstGeom>
          <a:ln w="25400">
            <a:solidFill>
              <a:srgbClr val="2B5B9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27122A4-92AF-ABE1-2415-ABFC14B4713F}"/>
              </a:ext>
            </a:extLst>
          </p:cNvPr>
          <p:cNvSpPr/>
          <p:nvPr/>
        </p:nvSpPr>
        <p:spPr>
          <a:xfrm>
            <a:off x="9055100" y="4292600"/>
            <a:ext cx="147320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300" b="1">
                <a:solidFill>
                  <a:srgbClr val="183055"/>
                </a:solidFill>
                <a:latin typeface="Microsoft JhengHei" panose="020B0604030504040204" pitchFamily="34" charset="-120"/>
              </a:rPr>
              <a:t>資料交付</a:t>
            </a:r>
          </a:p>
        </p:txBody>
      </p:sp>
    </p:spTree>
    <p:extLst>
      <p:ext uri="{BB962C8B-B14F-4D97-AF65-F5344CB8AC3E}">
        <p14:creationId xmlns:p14="http://schemas.microsoft.com/office/powerpoint/2010/main" val="3995636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A569834-23D4-477B-AA1E-37AB2D25728C}"/>
              </a:ext>
            </a:extLst>
          </p:cNvPr>
          <p:cNvSpPr txBox="1"/>
          <p:nvPr/>
        </p:nvSpPr>
        <p:spPr>
          <a:xfrm>
            <a:off x="558800" y="330200"/>
            <a:ext cx="7620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TW" sz="2600" b="1">
                <a:solidFill>
                  <a:srgbClr val="183055"/>
                </a:solidFill>
                <a:latin typeface="Microsoft JhengHei" panose="020B0604030504040204" pitchFamily="34" charset="-120"/>
              </a:rPr>
              <a:t>P2</a:t>
            </a:r>
            <a:r>
              <a:rPr lang="zh-TW" altLang="en-US" sz="2600" b="1">
                <a:solidFill>
                  <a:srgbClr val="183055"/>
                </a:solidFill>
                <a:latin typeface="Microsoft JhengHei" panose="020B0604030504040204" pitchFamily="34" charset="-120"/>
              </a:rPr>
              <a:t>｜我的角色定位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A5CA8C3-1B74-4090-2A79-CEA2689939BC}"/>
              </a:ext>
            </a:extLst>
          </p:cNvPr>
          <p:cNvSpPr txBox="1"/>
          <p:nvPr/>
        </p:nvSpPr>
        <p:spPr>
          <a:xfrm>
            <a:off x="584200" y="812800"/>
            <a:ext cx="7874000" cy="30264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TW" altLang="en-US" sz="1300">
                <a:solidFill>
                  <a:srgbClr val="6E7682"/>
                </a:solidFill>
                <a:latin typeface="Microsoft JhengHei" panose="020B0604030504040204" pitchFamily="34" charset="-120"/>
              </a:rPr>
              <a:t>核心訊息：建立來源系統到資料使用者之間的穩定資料供應鏈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2BA130-A93B-D650-594D-3D99E77ADD00}"/>
              </a:ext>
            </a:extLst>
          </p:cNvPr>
          <p:cNvSpPr/>
          <p:nvPr/>
        </p:nvSpPr>
        <p:spPr>
          <a:xfrm>
            <a:off x="558800" y="1155700"/>
            <a:ext cx="11074400" cy="19050"/>
          </a:xfrm>
          <a:prstGeom prst="rect">
            <a:avLst/>
          </a:prstGeom>
          <a:solidFill>
            <a:srgbClr val="CDD5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2C88140-0C60-DB54-0EFC-8790BA17DA1D}"/>
              </a:ext>
            </a:extLst>
          </p:cNvPr>
          <p:cNvSpPr/>
          <p:nvPr/>
        </p:nvSpPr>
        <p:spPr>
          <a:xfrm>
            <a:off x="889000" y="2349500"/>
            <a:ext cx="2667000" cy="15240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700" b="1">
                <a:solidFill>
                  <a:srgbClr val="20262E"/>
                </a:solidFill>
                <a:latin typeface="Microsoft JhengHei" panose="020B0604030504040204" pitchFamily="34" charset="-120"/>
              </a:rPr>
              <a:t>來源系統
</a:t>
            </a:r>
            <a:r>
              <a:rPr lang="en-US" altLang="zh-TW" sz="1700" b="1">
                <a:solidFill>
                  <a:srgbClr val="20262E"/>
                </a:solidFill>
                <a:latin typeface="Microsoft JhengHei" panose="020B0604030504040204" pitchFamily="34" charset="-120"/>
              </a:rPr>
              <a:t>MES / EAP
Flowable / MSSQL
Kafka</a:t>
            </a:r>
            <a:endParaRPr lang="zh-TW" altLang="en-US" sz="1700" b="1">
              <a:solidFill>
                <a:srgbClr val="20262E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A7A98F8-6FE1-0913-1486-43A3A2BCB687}"/>
              </a:ext>
            </a:extLst>
          </p:cNvPr>
          <p:cNvSpPr/>
          <p:nvPr/>
        </p:nvSpPr>
        <p:spPr>
          <a:xfrm>
            <a:off x="4635500" y="2095500"/>
            <a:ext cx="2921000" cy="2032000"/>
          </a:xfrm>
          <a:prstGeom prst="roundRect">
            <a:avLst/>
          </a:prstGeom>
          <a:solidFill>
            <a:srgbClr val="E6F0FC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b="1">
                <a:solidFill>
                  <a:srgbClr val="183055"/>
                </a:solidFill>
                <a:latin typeface="Microsoft JhengHei" panose="020B0604030504040204" pitchFamily="34" charset="-120"/>
              </a:rPr>
              <a:t>資料工程師
接入、處理、儲存
品質、維運、交付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A062E48-BA2F-73AC-F6EA-AFBB1337CF59}"/>
              </a:ext>
            </a:extLst>
          </p:cNvPr>
          <p:cNvSpPr/>
          <p:nvPr/>
        </p:nvSpPr>
        <p:spPr>
          <a:xfrm>
            <a:off x="8636000" y="2349500"/>
            <a:ext cx="2667000" cy="15240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700" b="1">
                <a:solidFill>
                  <a:srgbClr val="20262E"/>
                </a:solidFill>
                <a:latin typeface="Microsoft JhengHei" panose="020B0604030504040204" pitchFamily="34" charset="-120"/>
              </a:rPr>
              <a:t>資料使用者
</a:t>
            </a:r>
            <a:r>
              <a:rPr lang="en-US" altLang="zh-TW" sz="1700" b="1">
                <a:solidFill>
                  <a:srgbClr val="20262E"/>
                </a:solidFill>
                <a:latin typeface="Microsoft JhengHei" panose="020B0604030504040204" pitchFamily="34" charset="-120"/>
              </a:rPr>
              <a:t>BI / Dashboard
API / </a:t>
            </a:r>
            <a:r>
              <a:rPr lang="zh-TW" altLang="en-US" sz="1700" b="1">
                <a:solidFill>
                  <a:srgbClr val="20262E"/>
                </a:solidFill>
                <a:latin typeface="Microsoft JhengHei" panose="020B0604030504040204" pitchFamily="34" charset="-120"/>
              </a:rPr>
              <a:t>報表
製造分析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D5F8300-DD7A-F0A9-5802-C7C7B0FC011F}"/>
              </a:ext>
            </a:extLst>
          </p:cNvPr>
          <p:cNvCxnSpPr/>
          <p:nvPr/>
        </p:nvCxnSpPr>
        <p:spPr>
          <a:xfrm>
            <a:off x="3556000" y="3111500"/>
            <a:ext cx="1079500" cy="0"/>
          </a:xfrm>
          <a:prstGeom prst="straightConnector1">
            <a:avLst/>
          </a:prstGeom>
          <a:ln w="25400">
            <a:solidFill>
              <a:srgbClr val="2B5B9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649E1E25-9A52-D132-02B8-EF7BC47B1005}"/>
              </a:ext>
            </a:extLst>
          </p:cNvPr>
          <p:cNvCxnSpPr/>
          <p:nvPr/>
        </p:nvCxnSpPr>
        <p:spPr>
          <a:xfrm>
            <a:off x="7556500" y="3111500"/>
            <a:ext cx="1079500" cy="0"/>
          </a:xfrm>
          <a:prstGeom prst="straightConnector1">
            <a:avLst/>
          </a:prstGeom>
          <a:ln w="25400">
            <a:solidFill>
              <a:srgbClr val="2B5B9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432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4593E5C-A625-A01D-0EB0-F33E257CFD9D}"/>
              </a:ext>
            </a:extLst>
          </p:cNvPr>
          <p:cNvSpPr txBox="1"/>
          <p:nvPr/>
        </p:nvSpPr>
        <p:spPr>
          <a:xfrm>
            <a:off x="558800" y="330200"/>
            <a:ext cx="7620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TW" sz="2600" b="1">
                <a:solidFill>
                  <a:srgbClr val="183055"/>
                </a:solidFill>
                <a:latin typeface="Microsoft JhengHei" panose="020B0604030504040204" pitchFamily="34" charset="-120"/>
              </a:rPr>
              <a:t>P3</a:t>
            </a:r>
            <a:r>
              <a:rPr lang="zh-TW" altLang="en-US" sz="2600" b="1">
                <a:solidFill>
                  <a:srgbClr val="183055"/>
                </a:solidFill>
                <a:latin typeface="Microsoft JhengHei" panose="020B0604030504040204" pitchFamily="34" charset="-120"/>
              </a:rPr>
              <a:t>｜業務背景與資料問題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874E72B-C634-2946-02FB-95E5B7005784}"/>
              </a:ext>
            </a:extLst>
          </p:cNvPr>
          <p:cNvSpPr txBox="1"/>
          <p:nvPr/>
        </p:nvSpPr>
        <p:spPr>
          <a:xfrm>
            <a:off x="584200" y="812800"/>
            <a:ext cx="7874000" cy="30264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TW" altLang="en-US" sz="1300">
                <a:solidFill>
                  <a:srgbClr val="6E7682"/>
                </a:solidFill>
                <a:latin typeface="Microsoft JhengHei" panose="020B0604030504040204" pitchFamily="34" charset="-120"/>
              </a:rPr>
              <a:t>核心訊息：製造資料分散，導致資料難以重用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D1D7EC-A690-02AC-FD7B-31A62099B703}"/>
              </a:ext>
            </a:extLst>
          </p:cNvPr>
          <p:cNvSpPr/>
          <p:nvPr/>
        </p:nvSpPr>
        <p:spPr>
          <a:xfrm>
            <a:off x="558800" y="1155700"/>
            <a:ext cx="11074400" cy="19050"/>
          </a:xfrm>
          <a:prstGeom prst="rect">
            <a:avLst/>
          </a:prstGeom>
          <a:solidFill>
            <a:srgbClr val="CDD5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A2E71BA-B7CD-A1BB-9BBD-78C888894E48}"/>
              </a:ext>
            </a:extLst>
          </p:cNvPr>
          <p:cNvSpPr/>
          <p:nvPr/>
        </p:nvSpPr>
        <p:spPr>
          <a:xfrm>
            <a:off x="825500" y="1905000"/>
            <a:ext cx="11176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600" b="1">
                <a:solidFill>
                  <a:srgbClr val="183055"/>
                </a:solidFill>
                <a:latin typeface="Microsoft JhengHei" panose="020B0604030504040204" pitchFamily="34" charset="-120"/>
              </a:rPr>
              <a:t>MES</a:t>
            </a:r>
            <a:endParaRPr lang="zh-TW" altLang="en-US" sz="1600" b="1">
              <a:solidFill>
                <a:srgbClr val="183055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557A487E-6316-D4F8-6880-D90630C5E354}"/>
              </a:ext>
            </a:extLst>
          </p:cNvPr>
          <p:cNvSpPr/>
          <p:nvPr/>
        </p:nvSpPr>
        <p:spPr>
          <a:xfrm>
            <a:off x="2349500" y="1905000"/>
            <a:ext cx="11176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600" b="1">
                <a:solidFill>
                  <a:srgbClr val="183055"/>
                </a:solidFill>
                <a:latin typeface="Microsoft JhengHei" panose="020B0604030504040204" pitchFamily="34" charset="-120"/>
              </a:rPr>
              <a:t>EAP</a:t>
            </a:r>
            <a:endParaRPr lang="zh-TW" altLang="en-US" sz="1600" b="1">
              <a:solidFill>
                <a:srgbClr val="183055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620F783-0B39-A94E-DADA-C2C927BACF0B}"/>
              </a:ext>
            </a:extLst>
          </p:cNvPr>
          <p:cNvSpPr/>
          <p:nvPr/>
        </p:nvSpPr>
        <p:spPr>
          <a:xfrm>
            <a:off x="3873500" y="1905000"/>
            <a:ext cx="11176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600" b="1">
                <a:solidFill>
                  <a:srgbClr val="183055"/>
                </a:solidFill>
                <a:latin typeface="Microsoft JhengHei" panose="020B0604030504040204" pitchFamily="34" charset="-120"/>
              </a:rPr>
              <a:t>Flowable</a:t>
            </a:r>
            <a:endParaRPr lang="zh-TW" altLang="en-US" sz="1600" b="1">
              <a:solidFill>
                <a:srgbClr val="183055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3BAA8B5-A69A-2D4D-2492-7E27B9A2C8F9}"/>
              </a:ext>
            </a:extLst>
          </p:cNvPr>
          <p:cNvSpPr/>
          <p:nvPr/>
        </p:nvSpPr>
        <p:spPr>
          <a:xfrm>
            <a:off x="825500" y="3048000"/>
            <a:ext cx="11176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600" b="1">
                <a:solidFill>
                  <a:srgbClr val="183055"/>
                </a:solidFill>
                <a:latin typeface="Microsoft JhengHei" panose="020B0604030504040204" pitchFamily="34" charset="-120"/>
              </a:rPr>
              <a:t>MDM</a:t>
            </a:r>
            <a:endParaRPr lang="zh-TW" altLang="en-US" sz="1600" b="1">
              <a:solidFill>
                <a:srgbClr val="183055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1C54267-F0DD-5DC6-6E09-69D219E8EAAC}"/>
              </a:ext>
            </a:extLst>
          </p:cNvPr>
          <p:cNvSpPr/>
          <p:nvPr/>
        </p:nvSpPr>
        <p:spPr>
          <a:xfrm>
            <a:off x="2349500" y="3048000"/>
            <a:ext cx="11176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600" b="1">
                <a:solidFill>
                  <a:srgbClr val="183055"/>
                </a:solidFill>
                <a:latin typeface="Microsoft JhengHei" panose="020B0604030504040204" pitchFamily="34" charset="-120"/>
              </a:rPr>
              <a:t>HR</a:t>
            </a:r>
            <a:endParaRPr lang="zh-TW" altLang="en-US" sz="1600" b="1">
              <a:solidFill>
                <a:srgbClr val="183055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3C2BBF7-904E-30FC-5DA2-5A2D179C9E34}"/>
              </a:ext>
            </a:extLst>
          </p:cNvPr>
          <p:cNvSpPr/>
          <p:nvPr/>
        </p:nvSpPr>
        <p:spPr>
          <a:xfrm>
            <a:off x="3873500" y="3048000"/>
            <a:ext cx="11176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600" b="1">
                <a:solidFill>
                  <a:srgbClr val="183055"/>
                </a:solidFill>
                <a:latin typeface="Microsoft JhengHei" panose="020B0604030504040204" pitchFamily="34" charset="-120"/>
              </a:rPr>
              <a:t>ERP</a:t>
            </a:r>
            <a:endParaRPr lang="zh-TW" altLang="en-US" sz="1600" b="1">
              <a:solidFill>
                <a:srgbClr val="183055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8EC0C6A-9866-2141-7503-E850B5901E19}"/>
              </a:ext>
            </a:extLst>
          </p:cNvPr>
          <p:cNvSpPr/>
          <p:nvPr/>
        </p:nvSpPr>
        <p:spPr>
          <a:xfrm>
            <a:off x="5334000" y="1841500"/>
            <a:ext cx="2286000" cy="2260600"/>
          </a:xfrm>
          <a:prstGeom prst="roundRect">
            <a:avLst/>
          </a:prstGeom>
          <a:solidFill>
            <a:srgbClr val="FFF6E2"/>
          </a:solidFill>
          <a:ln w="12700">
            <a:solidFill>
              <a:srgbClr val="B87C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700" b="1">
                <a:solidFill>
                  <a:srgbClr val="20262E"/>
                </a:solidFill>
                <a:latin typeface="Microsoft JhengHei" panose="020B0604030504040204" pitchFamily="34" charset="-120"/>
              </a:rPr>
              <a:t>資料孤島
格式不一致
重複開發
難以重用
分析影響來源系統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C822AA42-A197-918F-27E3-E0254EE78EBC}"/>
              </a:ext>
            </a:extLst>
          </p:cNvPr>
          <p:cNvSpPr/>
          <p:nvPr/>
        </p:nvSpPr>
        <p:spPr>
          <a:xfrm>
            <a:off x="8953500" y="2222500"/>
            <a:ext cx="2349500" cy="1498600"/>
          </a:xfrm>
          <a:prstGeom prst="roundRect">
            <a:avLst/>
          </a:prstGeom>
          <a:solidFill>
            <a:srgbClr val="E6F0FC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b="1">
                <a:solidFill>
                  <a:srgbClr val="183055"/>
                </a:solidFill>
                <a:latin typeface="Microsoft JhengHei" panose="020B0604030504040204" pitchFamily="34" charset="-120"/>
              </a:rPr>
              <a:t>目標
統一、可追蹤
可重用的資料供應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C25C3432-6739-3A12-97B5-699EB451838F}"/>
              </a:ext>
            </a:extLst>
          </p:cNvPr>
          <p:cNvCxnSpPr/>
          <p:nvPr/>
        </p:nvCxnSpPr>
        <p:spPr>
          <a:xfrm>
            <a:off x="4635500" y="3048000"/>
            <a:ext cx="698500" cy="0"/>
          </a:xfrm>
          <a:prstGeom prst="straightConnector1">
            <a:avLst/>
          </a:prstGeom>
          <a:ln w="25400">
            <a:solidFill>
              <a:srgbClr val="B87C2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BA93767E-B702-4576-6BA6-FF0309B02144}"/>
              </a:ext>
            </a:extLst>
          </p:cNvPr>
          <p:cNvCxnSpPr/>
          <p:nvPr/>
        </p:nvCxnSpPr>
        <p:spPr>
          <a:xfrm>
            <a:off x="7620000" y="3048000"/>
            <a:ext cx="1333500" cy="0"/>
          </a:xfrm>
          <a:prstGeom prst="straightConnector1">
            <a:avLst/>
          </a:prstGeom>
          <a:ln w="25400">
            <a:solidFill>
              <a:srgbClr val="2B5B9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6095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E26FDDC-C557-5635-BB38-E88F7DF5133B}"/>
              </a:ext>
            </a:extLst>
          </p:cNvPr>
          <p:cNvSpPr txBox="1"/>
          <p:nvPr/>
        </p:nvSpPr>
        <p:spPr>
          <a:xfrm>
            <a:off x="558800" y="330200"/>
            <a:ext cx="7620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TW" sz="2600" b="1">
                <a:solidFill>
                  <a:srgbClr val="183055"/>
                </a:solidFill>
                <a:latin typeface="Microsoft JhengHei" panose="020B0604030504040204" pitchFamily="34" charset="-120"/>
              </a:rPr>
              <a:t>P4</a:t>
            </a:r>
            <a:r>
              <a:rPr lang="zh-TW" altLang="en-US" sz="2600" b="1">
                <a:solidFill>
                  <a:srgbClr val="183055"/>
                </a:solidFill>
                <a:latin typeface="Microsoft JhengHei" panose="020B0604030504040204" pitchFamily="34" charset="-120"/>
              </a:rPr>
              <a:t>｜整體資料流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D52C177-2120-7667-B491-5A9A6E525A0C}"/>
              </a:ext>
            </a:extLst>
          </p:cNvPr>
          <p:cNvSpPr txBox="1"/>
          <p:nvPr/>
        </p:nvSpPr>
        <p:spPr>
          <a:xfrm>
            <a:off x="584200" y="812800"/>
            <a:ext cx="7874000" cy="30264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TW" altLang="en-US" sz="1300">
                <a:solidFill>
                  <a:srgbClr val="6E7682"/>
                </a:solidFill>
                <a:latin typeface="Microsoft JhengHei" panose="020B0604030504040204" pitchFamily="34" charset="-120"/>
              </a:rPr>
              <a:t>核心訊息：用橫向端到端流程說明資料供應鏈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5F8550-B7D9-DE85-CF17-8E8D0C908001}"/>
              </a:ext>
            </a:extLst>
          </p:cNvPr>
          <p:cNvSpPr/>
          <p:nvPr/>
        </p:nvSpPr>
        <p:spPr>
          <a:xfrm>
            <a:off x="558800" y="1155700"/>
            <a:ext cx="11074400" cy="19050"/>
          </a:xfrm>
          <a:prstGeom prst="rect">
            <a:avLst/>
          </a:prstGeom>
          <a:solidFill>
            <a:srgbClr val="CDD5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C0B8BCF-6FAC-9490-1C2D-ADC446388352}"/>
              </a:ext>
            </a:extLst>
          </p:cNvPr>
          <p:cNvSpPr/>
          <p:nvPr/>
        </p:nvSpPr>
        <p:spPr>
          <a:xfrm>
            <a:off x="482600" y="1905000"/>
            <a:ext cx="1600200" cy="482600"/>
          </a:xfrm>
          <a:prstGeom prst="roundRect">
            <a:avLst/>
          </a:prstGeom>
          <a:solidFill>
            <a:srgbClr val="2B5B9A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500" b="1">
                <a:solidFill>
                  <a:srgbClr val="FFFFFF"/>
                </a:solidFill>
                <a:latin typeface="Microsoft JhengHei" panose="020B0604030504040204" pitchFamily="34" charset="-120"/>
              </a:rPr>
              <a:t>資料來源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52734AB-7596-E681-DAF0-BB4B4749F58E}"/>
              </a:ext>
            </a:extLst>
          </p:cNvPr>
          <p:cNvSpPr/>
          <p:nvPr/>
        </p:nvSpPr>
        <p:spPr>
          <a:xfrm>
            <a:off x="482600" y="2438400"/>
            <a:ext cx="160020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100">
                <a:solidFill>
                  <a:srgbClr val="20262E"/>
                </a:solidFill>
                <a:latin typeface="Microsoft JhengHei" panose="020B0604030504040204" pitchFamily="34" charset="-120"/>
              </a:rPr>
              <a:t>MES / EAP
Flowable / MSSQL</a:t>
            </a:r>
            <a:endParaRPr lang="zh-TW" altLang="en-US" sz="1100">
              <a:solidFill>
                <a:srgbClr val="20262E"/>
              </a:solidFill>
              <a:latin typeface="Microsoft JhengHei" panose="020B0604030504040204" pitchFamily="34" charset="-120"/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E0998D51-E0BA-368D-B348-60D1D265A19A}"/>
              </a:ext>
            </a:extLst>
          </p:cNvPr>
          <p:cNvCxnSpPr/>
          <p:nvPr/>
        </p:nvCxnSpPr>
        <p:spPr>
          <a:xfrm>
            <a:off x="2082800" y="2794000"/>
            <a:ext cx="304800" cy="0"/>
          </a:xfrm>
          <a:prstGeom prst="straightConnector1">
            <a:avLst/>
          </a:prstGeom>
          <a:ln w="25400">
            <a:solidFill>
              <a:srgbClr val="2B5B9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A27F860-B995-D895-63CE-3FC74EFCEC42}"/>
              </a:ext>
            </a:extLst>
          </p:cNvPr>
          <p:cNvSpPr/>
          <p:nvPr/>
        </p:nvSpPr>
        <p:spPr>
          <a:xfrm>
            <a:off x="2413000" y="1905000"/>
            <a:ext cx="1600200" cy="482600"/>
          </a:xfrm>
          <a:prstGeom prst="roundRect">
            <a:avLst/>
          </a:prstGeom>
          <a:solidFill>
            <a:srgbClr val="2B5B9A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500" b="1">
                <a:solidFill>
                  <a:srgbClr val="FFFFFF"/>
                </a:solidFill>
                <a:latin typeface="Microsoft JhengHei" panose="020B0604030504040204" pitchFamily="34" charset="-120"/>
              </a:rPr>
              <a:t>資料接入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916D2EFA-06FF-7CA8-4D56-77D5DA391D5D}"/>
              </a:ext>
            </a:extLst>
          </p:cNvPr>
          <p:cNvSpPr/>
          <p:nvPr/>
        </p:nvSpPr>
        <p:spPr>
          <a:xfrm>
            <a:off x="2413000" y="2438400"/>
            <a:ext cx="160020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100">
                <a:solidFill>
                  <a:srgbClr val="20262E"/>
                </a:solidFill>
                <a:latin typeface="Microsoft JhengHei" panose="020B0604030504040204" pitchFamily="34" charset="-120"/>
              </a:rPr>
              <a:t>Kafka</a:t>
            </a:r>
            <a:r>
              <a:rPr lang="zh-TW" altLang="en-US" sz="1100">
                <a:solidFill>
                  <a:srgbClr val="20262E"/>
                </a:solidFill>
                <a:latin typeface="Microsoft JhengHei" panose="020B0604030504040204" pitchFamily="34" charset="-120"/>
              </a:rPr>
              <a:t>：即時訊息平台
</a:t>
            </a:r>
            <a:r>
              <a:rPr lang="en-US" altLang="zh-TW" sz="1100">
                <a:solidFill>
                  <a:srgbClr val="20262E"/>
                </a:solidFill>
                <a:latin typeface="Microsoft JhengHei" panose="020B0604030504040204" pitchFamily="34" charset="-120"/>
              </a:rPr>
              <a:t>ODBC</a:t>
            </a:r>
            <a:r>
              <a:rPr lang="zh-TW" altLang="en-US" sz="1100">
                <a:solidFill>
                  <a:srgbClr val="20262E"/>
                </a:solidFill>
                <a:latin typeface="Microsoft JhengHei" panose="020B0604030504040204" pitchFamily="34" charset="-120"/>
              </a:rPr>
              <a:t>：資料庫連線介面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7BA7473-6EEE-7552-EA25-3F0A2AFA81A9}"/>
              </a:ext>
            </a:extLst>
          </p:cNvPr>
          <p:cNvCxnSpPr/>
          <p:nvPr/>
        </p:nvCxnSpPr>
        <p:spPr>
          <a:xfrm>
            <a:off x="4013200" y="2794000"/>
            <a:ext cx="304800" cy="0"/>
          </a:xfrm>
          <a:prstGeom prst="straightConnector1">
            <a:avLst/>
          </a:prstGeom>
          <a:ln w="25400">
            <a:solidFill>
              <a:srgbClr val="2B5B9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C518AD3B-7B29-4A79-916A-0A49A3319F51}"/>
              </a:ext>
            </a:extLst>
          </p:cNvPr>
          <p:cNvSpPr/>
          <p:nvPr/>
        </p:nvSpPr>
        <p:spPr>
          <a:xfrm>
            <a:off x="4343400" y="1905000"/>
            <a:ext cx="1600200" cy="482600"/>
          </a:xfrm>
          <a:prstGeom prst="roundRect">
            <a:avLst/>
          </a:prstGeom>
          <a:solidFill>
            <a:srgbClr val="2B5B9A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500" b="1">
                <a:solidFill>
                  <a:srgbClr val="FFFFFF"/>
                </a:solidFill>
                <a:latin typeface="Microsoft JhengHei" panose="020B0604030504040204" pitchFamily="34" charset="-120"/>
              </a:rPr>
              <a:t>流程編排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8F0E13C1-2E11-12DB-24CE-BF4D3663BA51}"/>
              </a:ext>
            </a:extLst>
          </p:cNvPr>
          <p:cNvSpPr/>
          <p:nvPr/>
        </p:nvSpPr>
        <p:spPr>
          <a:xfrm>
            <a:off x="4343400" y="2438400"/>
            <a:ext cx="160020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100">
                <a:solidFill>
                  <a:srgbClr val="20262E"/>
                </a:solidFill>
                <a:latin typeface="Microsoft JhengHei" panose="020B0604030504040204" pitchFamily="34" charset="-120"/>
              </a:rPr>
              <a:t>Airflow</a:t>
            </a:r>
            <a:r>
              <a:rPr lang="zh-TW" altLang="en-US" sz="1100">
                <a:solidFill>
                  <a:srgbClr val="20262E"/>
                </a:solidFill>
                <a:latin typeface="Microsoft JhengHei" panose="020B0604030504040204" pitchFamily="34" charset="-120"/>
              </a:rPr>
              <a:t>：排程與編排
</a:t>
            </a:r>
            <a:r>
              <a:rPr lang="en-US" altLang="zh-TW" sz="1100">
                <a:solidFill>
                  <a:srgbClr val="20262E"/>
                </a:solidFill>
                <a:latin typeface="Microsoft JhengHei" panose="020B0604030504040204" pitchFamily="34" charset="-120"/>
              </a:rPr>
              <a:t>SeaTunnel</a:t>
            </a:r>
            <a:r>
              <a:rPr lang="zh-TW" altLang="en-US" sz="1100">
                <a:solidFill>
                  <a:srgbClr val="20262E"/>
                </a:solidFill>
                <a:latin typeface="Microsoft JhengHei" panose="020B0604030504040204" pitchFamily="34" charset="-120"/>
              </a:rPr>
              <a:t>：資料同步整合
</a:t>
            </a:r>
            <a:r>
              <a:rPr lang="en-US" altLang="zh-TW" sz="1100">
                <a:solidFill>
                  <a:srgbClr val="20262E"/>
                </a:solidFill>
                <a:latin typeface="Microsoft JhengHei" panose="020B0604030504040204" pitchFamily="34" charset="-120"/>
              </a:rPr>
              <a:t>Cron</a:t>
            </a:r>
            <a:r>
              <a:rPr lang="zh-TW" altLang="en-US" sz="1100">
                <a:solidFill>
                  <a:srgbClr val="20262E"/>
                </a:solidFill>
                <a:latin typeface="Microsoft JhengHei" panose="020B0604030504040204" pitchFamily="34" charset="-120"/>
              </a:rPr>
              <a:t>：定時排程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90BF683A-B2EE-5618-678C-19758B2D1020}"/>
              </a:ext>
            </a:extLst>
          </p:cNvPr>
          <p:cNvCxnSpPr/>
          <p:nvPr/>
        </p:nvCxnSpPr>
        <p:spPr>
          <a:xfrm>
            <a:off x="5943600" y="2794000"/>
            <a:ext cx="304800" cy="0"/>
          </a:xfrm>
          <a:prstGeom prst="straightConnector1">
            <a:avLst/>
          </a:prstGeom>
          <a:ln w="25400">
            <a:solidFill>
              <a:srgbClr val="2B5B9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ED33DB15-BCEC-0128-060B-3D1EEC696B83}"/>
              </a:ext>
            </a:extLst>
          </p:cNvPr>
          <p:cNvSpPr/>
          <p:nvPr/>
        </p:nvSpPr>
        <p:spPr>
          <a:xfrm>
            <a:off x="6273800" y="1905000"/>
            <a:ext cx="1600200" cy="482600"/>
          </a:xfrm>
          <a:prstGeom prst="roundRect">
            <a:avLst/>
          </a:prstGeom>
          <a:solidFill>
            <a:srgbClr val="2B5B9A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500" b="1">
                <a:solidFill>
                  <a:srgbClr val="FFFFFF"/>
                </a:solidFill>
                <a:latin typeface="Microsoft JhengHei" panose="020B0604030504040204" pitchFamily="34" charset="-120"/>
              </a:rPr>
              <a:t>資料處理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2CF46490-E995-3F7A-F1B5-2CC64A9DBA8F}"/>
              </a:ext>
            </a:extLst>
          </p:cNvPr>
          <p:cNvSpPr/>
          <p:nvPr/>
        </p:nvSpPr>
        <p:spPr>
          <a:xfrm>
            <a:off x="6273800" y="2438400"/>
            <a:ext cx="160020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100">
                <a:solidFill>
                  <a:srgbClr val="20262E"/>
                </a:solidFill>
                <a:latin typeface="Microsoft JhengHei" panose="020B0604030504040204" pitchFamily="34" charset="-120"/>
              </a:rPr>
              <a:t>Python / SQL
JSON / Join</a:t>
            </a:r>
            <a:endParaRPr lang="zh-TW" altLang="en-US" sz="1100">
              <a:solidFill>
                <a:srgbClr val="20262E"/>
              </a:solidFill>
              <a:latin typeface="Microsoft JhengHei" panose="020B0604030504040204" pitchFamily="34" charset="-12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1BA387E0-CBBA-161A-1FFE-CE34694B9A3C}"/>
              </a:ext>
            </a:extLst>
          </p:cNvPr>
          <p:cNvCxnSpPr/>
          <p:nvPr/>
        </p:nvCxnSpPr>
        <p:spPr>
          <a:xfrm>
            <a:off x="7874000" y="2794000"/>
            <a:ext cx="304800" cy="0"/>
          </a:xfrm>
          <a:prstGeom prst="straightConnector1">
            <a:avLst/>
          </a:prstGeom>
          <a:ln w="25400">
            <a:solidFill>
              <a:srgbClr val="2B5B9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D7B53C95-4FA3-241A-BAFC-A8C30278FC85}"/>
              </a:ext>
            </a:extLst>
          </p:cNvPr>
          <p:cNvSpPr/>
          <p:nvPr/>
        </p:nvSpPr>
        <p:spPr>
          <a:xfrm>
            <a:off x="8204200" y="1905000"/>
            <a:ext cx="1600200" cy="482600"/>
          </a:xfrm>
          <a:prstGeom prst="roundRect">
            <a:avLst/>
          </a:prstGeom>
          <a:solidFill>
            <a:srgbClr val="2B5B9A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500" b="1">
                <a:solidFill>
                  <a:srgbClr val="FFFFFF"/>
                </a:solidFill>
                <a:latin typeface="Microsoft JhengHei" panose="020B0604030504040204" pitchFamily="34" charset="-120"/>
              </a:rPr>
              <a:t>資料儲存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EC6F7B08-330D-3CC3-A9C4-64359F0DBE16}"/>
              </a:ext>
            </a:extLst>
          </p:cNvPr>
          <p:cNvSpPr/>
          <p:nvPr/>
        </p:nvSpPr>
        <p:spPr>
          <a:xfrm>
            <a:off x="8204200" y="2438400"/>
            <a:ext cx="160020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pt-BR" altLang="zh-TW" sz="1100">
                <a:solidFill>
                  <a:srgbClr val="20262E"/>
                </a:solidFill>
                <a:latin typeface="Microsoft JhengHei" panose="020B0604030504040204" pitchFamily="34" charset="-120"/>
              </a:rPr>
              <a:t>S3 / MinIO / Parquet
ClickHouse / Doris</a:t>
            </a:r>
            <a:endParaRPr lang="zh-TW" altLang="en-US" sz="1100">
              <a:solidFill>
                <a:srgbClr val="20262E"/>
              </a:solidFill>
              <a:latin typeface="Microsoft JhengHei" panose="020B0604030504040204" pitchFamily="34" charset="-120"/>
            </a:endParaRP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B544D1AD-3946-D540-F56B-9C008A897CC6}"/>
              </a:ext>
            </a:extLst>
          </p:cNvPr>
          <p:cNvCxnSpPr/>
          <p:nvPr/>
        </p:nvCxnSpPr>
        <p:spPr>
          <a:xfrm>
            <a:off x="9804400" y="2794000"/>
            <a:ext cx="304800" cy="0"/>
          </a:xfrm>
          <a:prstGeom prst="straightConnector1">
            <a:avLst/>
          </a:prstGeom>
          <a:ln w="25400">
            <a:solidFill>
              <a:srgbClr val="2B5B9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464B9DD0-C6CB-0000-8FC4-44229D3E6BC4}"/>
              </a:ext>
            </a:extLst>
          </p:cNvPr>
          <p:cNvSpPr/>
          <p:nvPr/>
        </p:nvSpPr>
        <p:spPr>
          <a:xfrm>
            <a:off x="10134600" y="1905000"/>
            <a:ext cx="1600200" cy="482600"/>
          </a:xfrm>
          <a:prstGeom prst="roundRect">
            <a:avLst/>
          </a:prstGeom>
          <a:solidFill>
            <a:srgbClr val="2B5B9A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500" b="1">
                <a:solidFill>
                  <a:srgbClr val="FFFFFF"/>
                </a:solidFill>
                <a:latin typeface="Microsoft JhengHei" panose="020B0604030504040204" pitchFamily="34" charset="-120"/>
              </a:rPr>
              <a:t>資料交付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9030483A-2FBB-CE89-E9F6-33C1FC71AE87}"/>
              </a:ext>
            </a:extLst>
          </p:cNvPr>
          <p:cNvSpPr/>
          <p:nvPr/>
        </p:nvSpPr>
        <p:spPr>
          <a:xfrm>
            <a:off x="10134600" y="2438400"/>
            <a:ext cx="160020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100">
                <a:solidFill>
                  <a:srgbClr val="20262E"/>
                </a:solidFill>
                <a:latin typeface="Microsoft JhengHei" panose="020B0604030504040204" pitchFamily="34" charset="-120"/>
              </a:rPr>
              <a:t>Cube.js</a:t>
            </a:r>
            <a:r>
              <a:rPr lang="zh-TW" altLang="en-US" sz="1100">
                <a:solidFill>
                  <a:srgbClr val="20262E"/>
                </a:solidFill>
                <a:latin typeface="Microsoft JhengHei" panose="020B0604030504040204" pitchFamily="34" charset="-120"/>
              </a:rPr>
              <a:t>：</a:t>
            </a:r>
            <a:r>
              <a:rPr lang="en-US" altLang="zh-TW" sz="1100">
                <a:solidFill>
                  <a:srgbClr val="20262E"/>
                </a:solidFill>
                <a:latin typeface="Microsoft JhengHei" panose="020B0604030504040204" pitchFamily="34" charset="-120"/>
              </a:rPr>
              <a:t>BI </a:t>
            </a:r>
            <a:r>
              <a:rPr lang="zh-TW" altLang="en-US" sz="1100">
                <a:solidFill>
                  <a:srgbClr val="20262E"/>
                </a:solidFill>
                <a:latin typeface="Microsoft JhengHei" panose="020B0604030504040204" pitchFamily="34" charset="-120"/>
              </a:rPr>
              <a:t>語義層
</a:t>
            </a:r>
            <a:r>
              <a:rPr lang="en-US" altLang="zh-TW" sz="1100">
                <a:solidFill>
                  <a:srgbClr val="20262E"/>
                </a:solidFill>
                <a:latin typeface="Microsoft JhengHei" panose="020B0604030504040204" pitchFamily="34" charset="-120"/>
              </a:rPr>
              <a:t>BI / API / </a:t>
            </a:r>
            <a:r>
              <a:rPr lang="zh-TW" altLang="en-US" sz="1100">
                <a:solidFill>
                  <a:srgbClr val="20262E"/>
                </a:solidFill>
                <a:latin typeface="Microsoft JhengHei" panose="020B0604030504040204" pitchFamily="34" charset="-120"/>
              </a:rPr>
              <a:t>報表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C536ABE1-A747-7E3C-8316-B46A8116CAA2}"/>
              </a:ext>
            </a:extLst>
          </p:cNvPr>
          <p:cNvSpPr/>
          <p:nvPr/>
        </p:nvSpPr>
        <p:spPr>
          <a:xfrm>
            <a:off x="4851400" y="4343400"/>
            <a:ext cx="2489200" cy="609600"/>
          </a:xfrm>
          <a:prstGeom prst="roundRect">
            <a:avLst/>
          </a:prstGeom>
          <a:solidFill>
            <a:srgbClr val="E5F5EE"/>
          </a:solidFill>
          <a:ln w="12700">
            <a:solidFill>
              <a:srgbClr val="2C82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b="1">
                <a:solidFill>
                  <a:srgbClr val="2C825F"/>
                </a:solidFill>
                <a:latin typeface="Microsoft JhengHei" panose="020B0604030504040204" pitchFamily="34" charset="-120"/>
              </a:rPr>
              <a:t>製造分析與決策</a:t>
            </a:r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9D9B8B22-AFC5-603A-D76C-E5575AC5BCD1}"/>
              </a:ext>
            </a:extLst>
          </p:cNvPr>
          <p:cNvCxnSpPr/>
          <p:nvPr/>
        </p:nvCxnSpPr>
        <p:spPr>
          <a:xfrm>
            <a:off x="6248400" y="3657600"/>
            <a:ext cx="0" cy="685800"/>
          </a:xfrm>
          <a:prstGeom prst="straightConnector1">
            <a:avLst/>
          </a:prstGeom>
          <a:ln w="25400">
            <a:solidFill>
              <a:srgbClr val="2C825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47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8BA97C6-2F22-212B-8890-B0975935DC21}"/>
              </a:ext>
            </a:extLst>
          </p:cNvPr>
          <p:cNvSpPr txBox="1"/>
          <p:nvPr/>
        </p:nvSpPr>
        <p:spPr>
          <a:xfrm>
            <a:off x="558800" y="330200"/>
            <a:ext cx="7620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TW" sz="2600" b="1">
                <a:solidFill>
                  <a:srgbClr val="183055"/>
                </a:solidFill>
                <a:latin typeface="Microsoft JhengHei" panose="020B0604030504040204" pitchFamily="34" charset="-120"/>
              </a:rPr>
              <a:t>P5</a:t>
            </a:r>
            <a:r>
              <a:rPr lang="zh-TW" altLang="en-US" sz="2600" b="1">
                <a:solidFill>
                  <a:srgbClr val="183055"/>
                </a:solidFill>
                <a:latin typeface="Microsoft JhengHei" panose="020B0604030504040204" pitchFamily="34" charset="-120"/>
              </a:rPr>
              <a:t>｜我的主要職責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6D8F351-43B4-5EE2-B11B-CD4574BE1EA2}"/>
              </a:ext>
            </a:extLst>
          </p:cNvPr>
          <p:cNvSpPr txBox="1"/>
          <p:nvPr/>
        </p:nvSpPr>
        <p:spPr>
          <a:xfrm>
            <a:off x="584200" y="812800"/>
            <a:ext cx="7874000" cy="30264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TW" altLang="en-US" sz="1300">
                <a:solidFill>
                  <a:srgbClr val="6E7682"/>
                </a:solidFill>
                <a:latin typeface="Microsoft JhengHei" panose="020B0604030504040204" pitchFamily="34" charset="-120"/>
              </a:rPr>
              <a:t>核心訊息：能力範圍涵蓋資料管線完整生命週期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41695A-0435-924B-1549-54FC0A606E48}"/>
              </a:ext>
            </a:extLst>
          </p:cNvPr>
          <p:cNvSpPr/>
          <p:nvPr/>
        </p:nvSpPr>
        <p:spPr>
          <a:xfrm>
            <a:off x="558800" y="1155700"/>
            <a:ext cx="11074400" cy="19050"/>
          </a:xfrm>
          <a:prstGeom prst="rect">
            <a:avLst/>
          </a:prstGeom>
          <a:solidFill>
            <a:srgbClr val="CDD5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BD74D0B0-5D6B-95A0-019B-86AEBB71756B}"/>
              </a:ext>
            </a:extLst>
          </p:cNvPr>
          <p:cNvSpPr/>
          <p:nvPr/>
        </p:nvSpPr>
        <p:spPr>
          <a:xfrm>
            <a:off x="698500" y="1752600"/>
            <a:ext cx="241300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多來源資料接入
</a:t>
            </a:r>
            <a:r>
              <a:rPr lang="en-US" altLang="zh-TW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Kafka</a:t>
            </a:r>
            <a:r>
              <a:rPr lang="zh-TW" altLang="en-US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MSSQL</a:t>
            </a:r>
            <a:r>
              <a:rPr lang="zh-TW" altLang="en-US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ClickHouse</a:t>
            </a:r>
            <a:endParaRPr lang="zh-TW" altLang="en-US" sz="1400" b="1">
              <a:solidFill>
                <a:srgbClr val="183055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355917F-98B4-A9B7-8565-0B02D2F1BC46}"/>
              </a:ext>
            </a:extLst>
          </p:cNvPr>
          <p:cNvSpPr/>
          <p:nvPr/>
        </p:nvSpPr>
        <p:spPr>
          <a:xfrm>
            <a:off x="3467100" y="1752600"/>
            <a:ext cx="241300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ETL / EL Pipeline
</a:t>
            </a:r>
            <a:r>
              <a:rPr lang="zh-TW" altLang="en-US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抽取、載入、轉換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84B6456-0EC0-DB60-73C0-F5001BE64FF7}"/>
              </a:ext>
            </a:extLst>
          </p:cNvPr>
          <p:cNvSpPr/>
          <p:nvPr/>
        </p:nvSpPr>
        <p:spPr>
          <a:xfrm>
            <a:off x="6235700" y="1752600"/>
            <a:ext cx="241300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Batch / Stream / Incremental / Backfill
</a:t>
            </a:r>
            <a:r>
              <a:rPr lang="zh-TW" altLang="en-US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批次、串流、增量、回補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BD4DA25-0A0F-4E47-F4AB-2479E66F1E78}"/>
              </a:ext>
            </a:extLst>
          </p:cNvPr>
          <p:cNvSpPr/>
          <p:nvPr/>
        </p:nvSpPr>
        <p:spPr>
          <a:xfrm>
            <a:off x="9004300" y="1752600"/>
            <a:ext cx="241300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資料建模與分層
</a:t>
            </a:r>
            <a:r>
              <a:rPr lang="en-US" altLang="zh-TW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Bronze</a:t>
            </a:r>
            <a:r>
              <a:rPr lang="zh-TW" altLang="en-US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Silver</a:t>
            </a:r>
            <a:r>
              <a:rPr lang="zh-TW" altLang="en-US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Gold</a:t>
            </a:r>
            <a:endParaRPr lang="zh-TW" altLang="en-US" sz="1400" b="1">
              <a:solidFill>
                <a:srgbClr val="183055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73F21C0-8694-0B47-4716-3B2FC2B45A12}"/>
              </a:ext>
            </a:extLst>
          </p:cNvPr>
          <p:cNvSpPr/>
          <p:nvPr/>
        </p:nvSpPr>
        <p:spPr>
          <a:xfrm>
            <a:off x="698500" y="3594100"/>
            <a:ext cx="241300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資料品質與對帳
筆數、完整性、成功率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E1CCF12-473F-9075-D28E-48FC7ABFF471}"/>
              </a:ext>
            </a:extLst>
          </p:cNvPr>
          <p:cNvSpPr/>
          <p:nvPr/>
        </p:nvSpPr>
        <p:spPr>
          <a:xfrm>
            <a:off x="3467100" y="3594100"/>
            <a:ext cx="241300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可靠性與錯誤處理
</a:t>
            </a:r>
            <a:r>
              <a:rPr lang="en-US" altLang="zh-TW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retry</a:t>
            </a:r>
            <a:r>
              <a:rPr lang="zh-TW" altLang="en-US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offset</a:t>
            </a:r>
            <a:r>
              <a:rPr lang="zh-TW" altLang="en-US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watermark</a:t>
            </a:r>
            <a:endParaRPr lang="zh-TW" altLang="en-US" sz="1400" b="1">
              <a:solidFill>
                <a:srgbClr val="183055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FAD788B-28D9-27E9-8296-476370A65E94}"/>
              </a:ext>
            </a:extLst>
          </p:cNvPr>
          <p:cNvSpPr/>
          <p:nvPr/>
        </p:nvSpPr>
        <p:spPr>
          <a:xfrm>
            <a:off x="6235700" y="3594100"/>
            <a:ext cx="241300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效能與記憶體管理
</a:t>
            </a:r>
            <a:r>
              <a:rPr lang="en-US" altLang="zh-TW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batch size</a:t>
            </a:r>
            <a:r>
              <a:rPr lang="zh-TW" altLang="en-US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memory limit</a:t>
            </a:r>
            <a:endParaRPr lang="zh-TW" altLang="en-US" sz="1400" b="1">
              <a:solidFill>
                <a:srgbClr val="183055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BE254EAE-4934-2899-696F-EE2804EDEE8D}"/>
              </a:ext>
            </a:extLst>
          </p:cNvPr>
          <p:cNvSpPr/>
          <p:nvPr/>
        </p:nvSpPr>
        <p:spPr>
          <a:xfrm>
            <a:off x="9004300" y="3594100"/>
            <a:ext cx="241300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監控與維運
</a:t>
            </a:r>
            <a:r>
              <a:rPr lang="en-US" altLang="zh-TW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log</a:t>
            </a:r>
            <a:r>
              <a:rPr lang="zh-TW" altLang="en-US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metrics</a:t>
            </a:r>
            <a:r>
              <a:rPr lang="zh-TW" altLang="en-US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400" b="1">
                <a:solidFill>
                  <a:srgbClr val="183055"/>
                </a:solidFill>
                <a:latin typeface="Microsoft JhengHei" panose="020B0604030504040204" pitchFamily="34" charset="-120"/>
              </a:rPr>
              <a:t>Dashboard</a:t>
            </a:r>
            <a:endParaRPr lang="zh-TW" altLang="en-US" sz="1400" b="1">
              <a:solidFill>
                <a:srgbClr val="183055"/>
              </a:solidFill>
              <a:latin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95783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35FCF6E-7EFD-D466-3EDE-9C621E3B8F36}"/>
              </a:ext>
            </a:extLst>
          </p:cNvPr>
          <p:cNvSpPr txBox="1"/>
          <p:nvPr/>
        </p:nvSpPr>
        <p:spPr>
          <a:xfrm>
            <a:off x="558800" y="330200"/>
            <a:ext cx="7620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TW" sz="2600" b="1">
                <a:solidFill>
                  <a:srgbClr val="183055"/>
                </a:solidFill>
                <a:latin typeface="Microsoft JhengHei" panose="020B0604030504040204" pitchFamily="34" charset="-120"/>
              </a:rPr>
              <a:t>P6</a:t>
            </a:r>
            <a:r>
              <a:rPr lang="zh-TW" altLang="en-US" sz="2600" b="1">
                <a:solidFill>
                  <a:srgbClr val="183055"/>
                </a:solidFill>
                <a:latin typeface="Microsoft JhengHei" panose="020B0604030504040204" pitchFamily="34" charset="-120"/>
              </a:rPr>
              <a:t>｜資料平台分層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6A7793E-FF23-0C9B-C803-04366BE018CC}"/>
              </a:ext>
            </a:extLst>
          </p:cNvPr>
          <p:cNvSpPr txBox="1"/>
          <p:nvPr/>
        </p:nvSpPr>
        <p:spPr>
          <a:xfrm>
            <a:off x="584200" y="812800"/>
            <a:ext cx="7874000" cy="30264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TW" altLang="en-US" sz="1300">
                <a:solidFill>
                  <a:srgbClr val="6E7682"/>
                </a:solidFill>
                <a:latin typeface="Microsoft JhengHei" panose="020B0604030504040204" pitchFamily="34" charset="-120"/>
              </a:rPr>
              <a:t>核心訊息：資料由原始保存逐步轉為可交付資料產品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08067B-315F-B7A8-3214-D91DB146D639}"/>
              </a:ext>
            </a:extLst>
          </p:cNvPr>
          <p:cNvSpPr/>
          <p:nvPr/>
        </p:nvSpPr>
        <p:spPr>
          <a:xfrm>
            <a:off x="558800" y="1155700"/>
            <a:ext cx="11074400" cy="19050"/>
          </a:xfrm>
          <a:prstGeom prst="rect">
            <a:avLst/>
          </a:prstGeom>
          <a:solidFill>
            <a:srgbClr val="CDD5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262FA18-5AE4-3696-A179-8FABCCA75649}"/>
              </a:ext>
            </a:extLst>
          </p:cNvPr>
          <p:cNvSpPr/>
          <p:nvPr/>
        </p:nvSpPr>
        <p:spPr>
          <a:xfrm>
            <a:off x="1143000" y="4572000"/>
            <a:ext cx="2159000" cy="6858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6E76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700" b="1">
                <a:solidFill>
                  <a:srgbClr val="6E7682"/>
                </a:solidFill>
                <a:latin typeface="Microsoft JhengHei" panose="020B0604030504040204" pitchFamily="34" charset="-120"/>
              </a:rPr>
              <a:t>Raw / Bronze</a:t>
            </a:r>
            <a:endParaRPr lang="zh-TW" altLang="en-US" sz="1700" b="1">
              <a:solidFill>
                <a:srgbClr val="6E7682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3264099-C99C-1297-2812-B62526CFEBF4}"/>
              </a:ext>
            </a:extLst>
          </p:cNvPr>
          <p:cNvSpPr/>
          <p:nvPr/>
        </p:nvSpPr>
        <p:spPr>
          <a:xfrm>
            <a:off x="3581400" y="4572000"/>
            <a:ext cx="74295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保存原始資料與同步紀錄
</a:t>
            </a:r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CFX Raw Data Lake</a:t>
            </a:r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MSSQL ODBC</a:t>
            </a:r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_sync_watermark</a:t>
            </a:r>
            <a:endParaRPr lang="zh-TW" altLang="en-US" sz="1300">
              <a:solidFill>
                <a:srgbClr val="20262E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4B216A7-9E66-5B54-6B2F-B747FC3840CA}"/>
              </a:ext>
            </a:extLst>
          </p:cNvPr>
          <p:cNvSpPr/>
          <p:nvPr/>
        </p:nvSpPr>
        <p:spPr>
          <a:xfrm>
            <a:off x="1143000" y="3581400"/>
            <a:ext cx="2159000" cy="685800"/>
          </a:xfrm>
          <a:prstGeom prst="roundRect">
            <a:avLst/>
          </a:prstGeom>
          <a:solidFill>
            <a:srgbClr val="E6F0FC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700" b="1">
                <a:solidFill>
                  <a:srgbClr val="2B5B9A"/>
                </a:solidFill>
                <a:latin typeface="Microsoft JhengHei" panose="020B0604030504040204" pitchFamily="34" charset="-120"/>
              </a:rPr>
              <a:t>Silver</a:t>
            </a:r>
            <a:endParaRPr lang="zh-TW" altLang="en-US" sz="1700" b="1">
              <a:solidFill>
                <a:srgbClr val="2B5B9A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375D1C94-CDAF-A677-E199-4C8B527F2889}"/>
              </a:ext>
            </a:extLst>
          </p:cNvPr>
          <p:cNvSpPr/>
          <p:nvPr/>
        </p:nvSpPr>
        <p:spPr>
          <a:xfrm>
            <a:off x="3581400" y="3581400"/>
            <a:ext cx="74295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清洗、</a:t>
            </a:r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Pivot</a:t>
            </a:r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Join</a:t>
            </a:r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Fact / Dimension
EAV </a:t>
            </a:r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變數轉置、五階製造維度對齊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0A9A257-5309-6D71-170C-87400E54234D}"/>
              </a:ext>
            </a:extLst>
          </p:cNvPr>
          <p:cNvSpPr/>
          <p:nvPr/>
        </p:nvSpPr>
        <p:spPr>
          <a:xfrm>
            <a:off x="1143000" y="2590800"/>
            <a:ext cx="2159000" cy="685800"/>
          </a:xfrm>
          <a:prstGeom prst="roundRect">
            <a:avLst/>
          </a:prstGeom>
          <a:solidFill>
            <a:srgbClr val="E5F5EE"/>
          </a:solidFill>
          <a:ln w="12700">
            <a:solidFill>
              <a:srgbClr val="2C82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700" b="1">
                <a:solidFill>
                  <a:srgbClr val="2C825F"/>
                </a:solidFill>
                <a:latin typeface="Microsoft JhengHei" panose="020B0604030504040204" pitchFamily="34" charset="-120"/>
              </a:rPr>
              <a:t>Gold</a:t>
            </a:r>
            <a:endParaRPr lang="zh-TW" altLang="en-US" sz="1700" b="1">
              <a:solidFill>
                <a:srgbClr val="2C825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81EAFEA-D203-BB77-2D12-C387E17D57BE}"/>
              </a:ext>
            </a:extLst>
          </p:cNvPr>
          <p:cNvSpPr/>
          <p:nvPr/>
        </p:nvSpPr>
        <p:spPr>
          <a:xfrm>
            <a:off x="3581400" y="2590800"/>
            <a:ext cx="74295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KPI</a:t>
            </a:r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、聚合、預計算
</a:t>
            </a:r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L5 </a:t>
            </a:r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任務完成率、</a:t>
            </a:r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Todo / Doing / Done</a:t>
            </a:r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、滾動 </a:t>
            </a:r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ACC</a:t>
            </a:r>
            <a:endParaRPr lang="zh-TW" altLang="en-US" sz="1300">
              <a:solidFill>
                <a:srgbClr val="20262E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72FF146-51AC-5AD1-F5A9-A3F3AD4FDE2E}"/>
              </a:ext>
            </a:extLst>
          </p:cNvPr>
          <p:cNvSpPr/>
          <p:nvPr/>
        </p:nvSpPr>
        <p:spPr>
          <a:xfrm>
            <a:off x="1143000" y="1600200"/>
            <a:ext cx="2159000" cy="685800"/>
          </a:xfrm>
          <a:prstGeom prst="roundRect">
            <a:avLst/>
          </a:prstGeom>
          <a:solidFill>
            <a:srgbClr val="FFF6E2"/>
          </a:solidFill>
          <a:ln w="12700">
            <a:solidFill>
              <a:srgbClr val="B87C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700" b="1">
                <a:solidFill>
                  <a:srgbClr val="B87C20"/>
                </a:solidFill>
                <a:latin typeface="Microsoft JhengHei" panose="020B0604030504040204" pitchFamily="34" charset="-120"/>
              </a:rPr>
              <a:t>Data Delivery</a:t>
            </a:r>
            <a:endParaRPr lang="zh-TW" altLang="en-US" sz="1700" b="1">
              <a:solidFill>
                <a:srgbClr val="B87C20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FCD3441-9DD5-1EB8-26ED-9A58DA0949DA}"/>
              </a:ext>
            </a:extLst>
          </p:cNvPr>
          <p:cNvSpPr/>
          <p:nvPr/>
        </p:nvSpPr>
        <p:spPr>
          <a:xfrm>
            <a:off x="3581400" y="1600200"/>
            <a:ext cx="74295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Cube.js</a:t>
            </a:r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BI</a:t>
            </a:r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API</a:t>
            </a:r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、報表
統一語義層，避免前端直連資料庫</a:t>
            </a:r>
          </a:p>
        </p:txBody>
      </p:sp>
    </p:spTree>
    <p:extLst>
      <p:ext uri="{BB962C8B-B14F-4D97-AF65-F5344CB8AC3E}">
        <p14:creationId xmlns:p14="http://schemas.microsoft.com/office/powerpoint/2010/main" val="3474377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FAE9669-86E5-C3B5-6240-DF0F3B7E3A47}"/>
              </a:ext>
            </a:extLst>
          </p:cNvPr>
          <p:cNvSpPr txBox="1"/>
          <p:nvPr/>
        </p:nvSpPr>
        <p:spPr>
          <a:xfrm>
            <a:off x="558800" y="330200"/>
            <a:ext cx="7620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TW" sz="2600" b="1">
                <a:solidFill>
                  <a:srgbClr val="183055"/>
                </a:solidFill>
                <a:latin typeface="Microsoft JhengHei" panose="020B0604030504040204" pitchFamily="34" charset="-120"/>
              </a:rPr>
              <a:t>P7</a:t>
            </a:r>
            <a:r>
              <a:rPr lang="zh-TW" altLang="en-US" sz="2600" b="1">
                <a:solidFill>
                  <a:srgbClr val="183055"/>
                </a:solidFill>
                <a:latin typeface="Microsoft JhengHei" panose="020B0604030504040204" pitchFamily="34" charset="-120"/>
              </a:rPr>
              <a:t>｜三個專案如何支援我的能力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353A312-3D43-FFC2-55E5-9C1CA6672CC6}"/>
              </a:ext>
            </a:extLst>
          </p:cNvPr>
          <p:cNvSpPr txBox="1"/>
          <p:nvPr/>
        </p:nvSpPr>
        <p:spPr>
          <a:xfrm>
            <a:off x="584200" y="812800"/>
            <a:ext cx="7874000" cy="30264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TW" altLang="en-US" sz="1300">
                <a:solidFill>
                  <a:srgbClr val="6E7682"/>
                </a:solidFill>
                <a:latin typeface="Microsoft JhengHei" panose="020B0604030504040204" pitchFamily="34" charset="-120"/>
              </a:rPr>
              <a:t>核心訊息：專案是能力證據，不是三個獨立介紹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C2A20E-8C30-F649-0AEB-9509F9B0F97F}"/>
              </a:ext>
            </a:extLst>
          </p:cNvPr>
          <p:cNvSpPr/>
          <p:nvPr/>
        </p:nvSpPr>
        <p:spPr>
          <a:xfrm>
            <a:off x="558800" y="1155700"/>
            <a:ext cx="11074400" cy="19050"/>
          </a:xfrm>
          <a:prstGeom prst="rect">
            <a:avLst/>
          </a:prstGeom>
          <a:solidFill>
            <a:srgbClr val="CDD5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46C4C26-2364-55E1-B0D1-329577D349D7}"/>
              </a:ext>
            </a:extLst>
          </p:cNvPr>
          <p:cNvSpPr/>
          <p:nvPr/>
        </p:nvSpPr>
        <p:spPr>
          <a:xfrm>
            <a:off x="7620000" y="1295400"/>
            <a:ext cx="1092200" cy="304800"/>
          </a:xfrm>
          <a:prstGeom prst="roundRect">
            <a:avLst/>
          </a:prstGeom>
          <a:solidFill>
            <a:srgbClr val="E6F0FC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100" b="1">
                <a:solidFill>
                  <a:srgbClr val="2B5B9A"/>
                </a:solidFill>
                <a:latin typeface="Microsoft JhengHei" panose="020B0604030504040204" pitchFamily="34" charset="-120"/>
              </a:rPr>
              <a:t>實際參與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889D53D0-0B88-A16B-C1E0-0F1F78CCCB03}"/>
              </a:ext>
            </a:extLst>
          </p:cNvPr>
          <p:cNvSpPr/>
          <p:nvPr/>
        </p:nvSpPr>
        <p:spPr>
          <a:xfrm>
            <a:off x="8839200" y="1295400"/>
            <a:ext cx="1320800" cy="304800"/>
          </a:xfrm>
          <a:prstGeom prst="roundRect">
            <a:avLst/>
          </a:prstGeom>
          <a:solidFill>
            <a:srgbClr val="E5F5EE"/>
          </a:solidFill>
          <a:ln w="12700">
            <a:solidFill>
              <a:srgbClr val="2C82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100" b="1">
                <a:solidFill>
                  <a:srgbClr val="2C825F"/>
                </a:solidFill>
                <a:latin typeface="Microsoft JhengHei" panose="020B0604030504040204" pitchFamily="34" charset="-120"/>
              </a:rPr>
              <a:t>技術選型驗證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D324747-5EC8-01E8-9620-19F87CBB900C}"/>
              </a:ext>
            </a:extLst>
          </p:cNvPr>
          <p:cNvSpPr/>
          <p:nvPr/>
        </p:nvSpPr>
        <p:spPr>
          <a:xfrm>
            <a:off x="10287000" y="1295400"/>
            <a:ext cx="1092200" cy="3048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6E76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100" b="1">
                <a:solidFill>
                  <a:srgbClr val="6E7682"/>
                </a:solidFill>
                <a:latin typeface="Microsoft JhengHei" panose="020B0604030504040204" pitchFamily="34" charset="-120"/>
              </a:rPr>
              <a:t>後續規劃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91F88DA-F75F-7319-E8E6-0302014CB0F4}"/>
              </a:ext>
            </a:extLst>
          </p:cNvPr>
          <p:cNvSpPr/>
          <p:nvPr/>
        </p:nvSpPr>
        <p:spPr>
          <a:xfrm>
            <a:off x="508000" y="1752600"/>
            <a:ext cx="2159000" cy="533400"/>
          </a:xfrm>
          <a:prstGeom prst="roundRect">
            <a:avLst/>
          </a:prstGeom>
          <a:solidFill>
            <a:srgbClr val="2B5B9A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200" b="1">
                <a:solidFill>
                  <a:srgbClr val="FFFFFF"/>
                </a:solidFill>
                <a:latin typeface="Microsoft JhengHei" panose="020B0604030504040204" pitchFamily="34" charset="-120"/>
              </a:rPr>
              <a:t>能力面向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A71A319-3B2F-7019-83BA-29B03C83036B}"/>
              </a:ext>
            </a:extLst>
          </p:cNvPr>
          <p:cNvSpPr/>
          <p:nvPr/>
        </p:nvSpPr>
        <p:spPr>
          <a:xfrm>
            <a:off x="2857500" y="1752600"/>
            <a:ext cx="2540000" cy="533400"/>
          </a:xfrm>
          <a:prstGeom prst="roundRect">
            <a:avLst/>
          </a:prstGeom>
          <a:solidFill>
            <a:srgbClr val="2B5B9A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Microsoft JhengHei" panose="020B0604030504040204" pitchFamily="34" charset="-120"/>
              </a:rPr>
              <a:t>CFX Kafka
Airflow ETL</a:t>
            </a:r>
            <a:endParaRPr lang="zh-TW" altLang="en-US" sz="120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A80448E-B7CF-6B10-B355-96686C183B34}"/>
              </a:ext>
            </a:extLst>
          </p:cNvPr>
          <p:cNvSpPr/>
          <p:nvPr/>
        </p:nvSpPr>
        <p:spPr>
          <a:xfrm>
            <a:off x="5715000" y="1752600"/>
            <a:ext cx="2540000" cy="533400"/>
          </a:xfrm>
          <a:prstGeom prst="roundRect">
            <a:avLst/>
          </a:prstGeom>
          <a:solidFill>
            <a:srgbClr val="2B5B9A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Microsoft JhengHei" panose="020B0604030504040204" pitchFamily="34" charset="-120"/>
              </a:rPr>
              <a:t>Doris-SeaTunnel
ETL POC</a:t>
            </a:r>
            <a:endParaRPr lang="zh-TW" altLang="en-US" sz="120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BEF187EB-66C3-1247-B116-3A8C3BE47B8B}"/>
              </a:ext>
            </a:extLst>
          </p:cNvPr>
          <p:cNvSpPr/>
          <p:nvPr/>
        </p:nvSpPr>
        <p:spPr>
          <a:xfrm>
            <a:off x="8572500" y="1752600"/>
            <a:ext cx="2540000" cy="533400"/>
          </a:xfrm>
          <a:prstGeom prst="roundRect">
            <a:avLst/>
          </a:prstGeom>
          <a:solidFill>
            <a:srgbClr val="2B5B9A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200" b="1">
                <a:solidFill>
                  <a:srgbClr val="FFFFFF"/>
                </a:solidFill>
                <a:latin typeface="Microsoft JhengHei" panose="020B0604030504040204" pitchFamily="34" charset="-120"/>
              </a:rPr>
              <a:t>DMP Flowable
ETL</a:t>
            </a:r>
            <a:endParaRPr lang="zh-TW" altLang="en-US" sz="1200" b="1">
              <a:solidFill>
                <a:srgbClr val="FFFFFF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14775F1-3C0A-1713-5843-F293459A4DA8}"/>
              </a:ext>
            </a:extLst>
          </p:cNvPr>
          <p:cNvSpPr/>
          <p:nvPr/>
        </p:nvSpPr>
        <p:spPr>
          <a:xfrm>
            <a:off x="508000" y="2286000"/>
            <a:ext cx="2159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100" b="1">
                <a:solidFill>
                  <a:srgbClr val="183055"/>
                </a:solidFill>
                <a:latin typeface="Microsoft JhengHei" panose="020B0604030504040204" pitchFamily="34" charset="-120"/>
              </a:rPr>
              <a:t>資料接入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E768FF23-F9C8-5149-EB04-643C1EF66961}"/>
              </a:ext>
            </a:extLst>
          </p:cNvPr>
          <p:cNvSpPr/>
          <p:nvPr/>
        </p:nvSpPr>
        <p:spPr>
          <a:xfrm>
            <a:off x="2857500" y="2286000"/>
            <a:ext cx="2540000" cy="457200"/>
          </a:xfrm>
          <a:prstGeom prst="roundRect">
            <a:avLst/>
          </a:prstGeom>
          <a:solidFill>
            <a:srgbClr val="E6F0FC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000" b="1">
                <a:solidFill>
                  <a:srgbClr val="2B5B9A"/>
                </a:solidFill>
                <a:latin typeface="Microsoft JhengHei" panose="020B0604030504040204" pitchFamily="34" charset="-120"/>
              </a:rPr>
              <a:t>實際參與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EA843E40-C43A-7034-7509-7C574FDA9819}"/>
              </a:ext>
            </a:extLst>
          </p:cNvPr>
          <p:cNvSpPr/>
          <p:nvPr/>
        </p:nvSpPr>
        <p:spPr>
          <a:xfrm>
            <a:off x="5715000" y="2286000"/>
            <a:ext cx="2540000" cy="457200"/>
          </a:xfrm>
          <a:prstGeom prst="roundRect">
            <a:avLst/>
          </a:prstGeom>
          <a:solidFill>
            <a:srgbClr val="E5F5EE"/>
          </a:solidFill>
          <a:ln w="12700">
            <a:solidFill>
              <a:srgbClr val="2C82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000" b="1">
                <a:solidFill>
                  <a:srgbClr val="2C825F"/>
                </a:solidFill>
                <a:latin typeface="Microsoft JhengHei" panose="020B0604030504040204" pitchFamily="34" charset="-120"/>
              </a:rPr>
              <a:t>技術選型驗證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DDBED71E-3C09-4CF2-C4B8-040063C2152B}"/>
              </a:ext>
            </a:extLst>
          </p:cNvPr>
          <p:cNvSpPr/>
          <p:nvPr/>
        </p:nvSpPr>
        <p:spPr>
          <a:xfrm>
            <a:off x="8572500" y="2286000"/>
            <a:ext cx="2540000" cy="457200"/>
          </a:xfrm>
          <a:prstGeom prst="roundRect">
            <a:avLst/>
          </a:prstGeom>
          <a:solidFill>
            <a:srgbClr val="E6F0FC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000" b="1">
                <a:solidFill>
                  <a:srgbClr val="2B5B9A"/>
                </a:solidFill>
                <a:latin typeface="Microsoft JhengHei" panose="020B0604030504040204" pitchFamily="34" charset="-120"/>
              </a:rPr>
              <a:t>實際參與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7817C673-5AFA-7474-1B24-098137FD8BB6}"/>
              </a:ext>
            </a:extLst>
          </p:cNvPr>
          <p:cNvSpPr/>
          <p:nvPr/>
        </p:nvSpPr>
        <p:spPr>
          <a:xfrm>
            <a:off x="508000" y="2781300"/>
            <a:ext cx="2159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100" b="1">
                <a:solidFill>
                  <a:srgbClr val="183055"/>
                </a:solidFill>
                <a:latin typeface="Microsoft JhengHei" panose="020B0604030504040204" pitchFamily="34" charset="-120"/>
              </a:rPr>
              <a:t>流程編排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B0FF6808-4121-3ABD-E17C-FC719D41276F}"/>
              </a:ext>
            </a:extLst>
          </p:cNvPr>
          <p:cNvSpPr/>
          <p:nvPr/>
        </p:nvSpPr>
        <p:spPr>
          <a:xfrm>
            <a:off x="2857500" y="2781300"/>
            <a:ext cx="2540000" cy="457200"/>
          </a:xfrm>
          <a:prstGeom prst="roundRect">
            <a:avLst/>
          </a:prstGeom>
          <a:solidFill>
            <a:srgbClr val="E6F0FC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000" b="1">
                <a:solidFill>
                  <a:srgbClr val="2B5B9A"/>
                </a:solidFill>
                <a:latin typeface="Microsoft JhengHei" panose="020B0604030504040204" pitchFamily="34" charset="-120"/>
              </a:rPr>
              <a:t>實際參與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FA7FC1BF-A77C-540A-C4D2-BADFEB334CFF}"/>
              </a:ext>
            </a:extLst>
          </p:cNvPr>
          <p:cNvSpPr/>
          <p:nvPr/>
        </p:nvSpPr>
        <p:spPr>
          <a:xfrm>
            <a:off x="5715000" y="2781300"/>
            <a:ext cx="2540000" cy="457200"/>
          </a:xfrm>
          <a:prstGeom prst="roundRect">
            <a:avLst/>
          </a:prstGeom>
          <a:solidFill>
            <a:srgbClr val="E5F5EE"/>
          </a:solidFill>
          <a:ln w="12700">
            <a:solidFill>
              <a:srgbClr val="2C82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000" b="1">
                <a:solidFill>
                  <a:srgbClr val="2C825F"/>
                </a:solidFill>
                <a:latin typeface="Microsoft JhengHei" panose="020B0604030504040204" pitchFamily="34" charset="-120"/>
              </a:rPr>
              <a:t>技術選型驗證 </a:t>
            </a:r>
            <a:r>
              <a:rPr lang="en-US" altLang="zh-TW" sz="1000" b="1">
                <a:solidFill>
                  <a:srgbClr val="2C825F"/>
                </a:solidFill>
                <a:latin typeface="Microsoft JhengHei" panose="020B0604030504040204" pitchFamily="34" charset="-120"/>
              </a:rPr>
              <a:t>/ </a:t>
            </a:r>
            <a:r>
              <a:rPr lang="zh-TW" altLang="en-US" sz="1000" b="1">
                <a:solidFill>
                  <a:srgbClr val="2C825F"/>
                </a:solidFill>
                <a:latin typeface="Microsoft JhengHei" panose="020B0604030504040204" pitchFamily="34" charset="-120"/>
              </a:rPr>
              <a:t>後續規劃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976618E4-DC75-F92F-75F4-FE303147BFE6}"/>
              </a:ext>
            </a:extLst>
          </p:cNvPr>
          <p:cNvSpPr/>
          <p:nvPr/>
        </p:nvSpPr>
        <p:spPr>
          <a:xfrm>
            <a:off x="8572500" y="2781300"/>
            <a:ext cx="2540000" cy="457200"/>
          </a:xfrm>
          <a:prstGeom prst="roundRect">
            <a:avLst/>
          </a:prstGeom>
          <a:solidFill>
            <a:srgbClr val="E6F0FC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000" b="1">
                <a:solidFill>
                  <a:srgbClr val="2B5B9A"/>
                </a:solidFill>
                <a:latin typeface="Microsoft JhengHei" panose="020B0604030504040204" pitchFamily="34" charset="-120"/>
              </a:rPr>
              <a:t>實際參與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C28E55D5-E44F-5E69-5354-32EE3920E8E0}"/>
              </a:ext>
            </a:extLst>
          </p:cNvPr>
          <p:cNvSpPr/>
          <p:nvPr/>
        </p:nvSpPr>
        <p:spPr>
          <a:xfrm>
            <a:off x="508000" y="3276600"/>
            <a:ext cx="2159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100" b="1">
                <a:solidFill>
                  <a:srgbClr val="183055"/>
                </a:solidFill>
                <a:latin typeface="Microsoft JhengHei" panose="020B0604030504040204" pitchFamily="34" charset="-120"/>
              </a:rPr>
              <a:t>資料轉換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5C61DD9E-F388-2A8F-D284-DA4A54F6A5AD}"/>
              </a:ext>
            </a:extLst>
          </p:cNvPr>
          <p:cNvSpPr/>
          <p:nvPr/>
        </p:nvSpPr>
        <p:spPr>
          <a:xfrm>
            <a:off x="2857500" y="3276600"/>
            <a:ext cx="2540000" cy="457200"/>
          </a:xfrm>
          <a:prstGeom prst="roundRect">
            <a:avLst/>
          </a:prstGeom>
          <a:solidFill>
            <a:srgbClr val="E6F0FC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000" b="1">
                <a:solidFill>
                  <a:srgbClr val="2B5B9A"/>
                </a:solidFill>
                <a:latin typeface="Microsoft JhengHei" panose="020B0604030504040204" pitchFamily="34" charset="-120"/>
              </a:rPr>
              <a:t>實際參與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517A4A4F-0D18-85E0-443B-D794DDD6971D}"/>
              </a:ext>
            </a:extLst>
          </p:cNvPr>
          <p:cNvSpPr/>
          <p:nvPr/>
        </p:nvSpPr>
        <p:spPr>
          <a:xfrm>
            <a:off x="5715000" y="3276600"/>
            <a:ext cx="2540000" cy="457200"/>
          </a:xfrm>
          <a:prstGeom prst="roundRect">
            <a:avLst/>
          </a:prstGeom>
          <a:solidFill>
            <a:srgbClr val="E5F5EE"/>
          </a:solidFill>
          <a:ln w="12700">
            <a:solidFill>
              <a:srgbClr val="2C82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000" b="1">
                <a:solidFill>
                  <a:srgbClr val="2C825F"/>
                </a:solidFill>
                <a:latin typeface="Microsoft JhengHei" panose="020B0604030504040204" pitchFamily="34" charset="-120"/>
              </a:rPr>
              <a:t>技術選型驗證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BF463A21-F543-B17F-0558-A2F4F93CE3A9}"/>
              </a:ext>
            </a:extLst>
          </p:cNvPr>
          <p:cNvSpPr/>
          <p:nvPr/>
        </p:nvSpPr>
        <p:spPr>
          <a:xfrm>
            <a:off x="8572500" y="3276600"/>
            <a:ext cx="2540000" cy="457200"/>
          </a:xfrm>
          <a:prstGeom prst="roundRect">
            <a:avLst/>
          </a:prstGeom>
          <a:solidFill>
            <a:srgbClr val="E6F0FC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000" b="1">
                <a:solidFill>
                  <a:srgbClr val="2B5B9A"/>
                </a:solidFill>
                <a:latin typeface="Microsoft JhengHei" panose="020B0604030504040204" pitchFamily="34" charset="-120"/>
              </a:rPr>
              <a:t>實際參與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B0FF60B0-17F1-D91C-8175-18B4F6D68DED}"/>
              </a:ext>
            </a:extLst>
          </p:cNvPr>
          <p:cNvSpPr/>
          <p:nvPr/>
        </p:nvSpPr>
        <p:spPr>
          <a:xfrm>
            <a:off x="508000" y="3771900"/>
            <a:ext cx="2159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100" b="1">
                <a:solidFill>
                  <a:srgbClr val="183055"/>
                </a:solidFill>
                <a:latin typeface="Microsoft JhengHei" panose="020B0604030504040204" pitchFamily="34" charset="-120"/>
              </a:rPr>
              <a:t>資料儲存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30DD06EE-0626-278E-0C84-7DEE50D318C8}"/>
              </a:ext>
            </a:extLst>
          </p:cNvPr>
          <p:cNvSpPr/>
          <p:nvPr/>
        </p:nvSpPr>
        <p:spPr>
          <a:xfrm>
            <a:off x="2857500" y="3771900"/>
            <a:ext cx="2540000" cy="457200"/>
          </a:xfrm>
          <a:prstGeom prst="roundRect">
            <a:avLst/>
          </a:prstGeom>
          <a:solidFill>
            <a:srgbClr val="E6F0FC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000" b="1">
                <a:solidFill>
                  <a:srgbClr val="2B5B9A"/>
                </a:solidFill>
                <a:latin typeface="Microsoft JhengHei" panose="020B0604030504040204" pitchFamily="34" charset="-120"/>
              </a:rPr>
              <a:t>實際參與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A98D08E9-1967-466A-49E0-0059C24D659E}"/>
              </a:ext>
            </a:extLst>
          </p:cNvPr>
          <p:cNvSpPr/>
          <p:nvPr/>
        </p:nvSpPr>
        <p:spPr>
          <a:xfrm>
            <a:off x="5715000" y="3771900"/>
            <a:ext cx="2540000" cy="457200"/>
          </a:xfrm>
          <a:prstGeom prst="roundRect">
            <a:avLst/>
          </a:prstGeom>
          <a:solidFill>
            <a:srgbClr val="E5F5EE"/>
          </a:solidFill>
          <a:ln w="12700">
            <a:solidFill>
              <a:srgbClr val="2C82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000" b="1">
                <a:solidFill>
                  <a:srgbClr val="2C825F"/>
                </a:solidFill>
                <a:latin typeface="Microsoft JhengHei" panose="020B0604030504040204" pitchFamily="34" charset="-120"/>
              </a:rPr>
              <a:t>技術選型驗證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FFCA36D1-5602-F35F-FD00-83E442910F5F}"/>
              </a:ext>
            </a:extLst>
          </p:cNvPr>
          <p:cNvSpPr/>
          <p:nvPr/>
        </p:nvSpPr>
        <p:spPr>
          <a:xfrm>
            <a:off x="8572500" y="3771900"/>
            <a:ext cx="2540000" cy="457200"/>
          </a:xfrm>
          <a:prstGeom prst="roundRect">
            <a:avLst/>
          </a:prstGeom>
          <a:solidFill>
            <a:srgbClr val="E6F0FC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000" b="1">
                <a:solidFill>
                  <a:srgbClr val="2B5B9A"/>
                </a:solidFill>
                <a:latin typeface="Microsoft JhengHei" panose="020B0604030504040204" pitchFamily="34" charset="-120"/>
              </a:rPr>
              <a:t>實際參與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D0D83892-C3C1-6801-1E23-6D40FBD7998A}"/>
              </a:ext>
            </a:extLst>
          </p:cNvPr>
          <p:cNvSpPr/>
          <p:nvPr/>
        </p:nvSpPr>
        <p:spPr>
          <a:xfrm>
            <a:off x="508000" y="4267200"/>
            <a:ext cx="2159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100" b="1">
                <a:solidFill>
                  <a:srgbClr val="183055"/>
                </a:solidFill>
                <a:latin typeface="Microsoft JhengHei" panose="020B0604030504040204" pitchFamily="34" charset="-120"/>
              </a:rPr>
              <a:t>資料建模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3FF0E652-4A22-3384-4438-24CF995EAA63}"/>
              </a:ext>
            </a:extLst>
          </p:cNvPr>
          <p:cNvSpPr/>
          <p:nvPr/>
        </p:nvSpPr>
        <p:spPr>
          <a:xfrm>
            <a:off x="2857500" y="4267200"/>
            <a:ext cx="2540000" cy="457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6E76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000" b="1">
                <a:solidFill>
                  <a:srgbClr val="6E7682"/>
                </a:solidFill>
                <a:latin typeface="Microsoft JhengHei" panose="020B0604030504040204" pitchFamily="34" charset="-120"/>
              </a:rPr>
              <a:t>後續規劃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AAFA1DAB-A32A-D4D9-139E-2711ACFD6D92}"/>
              </a:ext>
            </a:extLst>
          </p:cNvPr>
          <p:cNvSpPr/>
          <p:nvPr/>
        </p:nvSpPr>
        <p:spPr>
          <a:xfrm>
            <a:off x="5715000" y="4267200"/>
            <a:ext cx="2540000" cy="457200"/>
          </a:xfrm>
          <a:prstGeom prst="roundRect">
            <a:avLst/>
          </a:prstGeom>
          <a:solidFill>
            <a:srgbClr val="E5F5EE"/>
          </a:solidFill>
          <a:ln w="12700">
            <a:solidFill>
              <a:srgbClr val="2C82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000" b="1">
                <a:solidFill>
                  <a:srgbClr val="2C825F"/>
                </a:solidFill>
                <a:latin typeface="Microsoft JhengHei" panose="020B0604030504040204" pitchFamily="34" charset="-120"/>
              </a:rPr>
              <a:t>技術選型驗證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3CBB52D7-D1F3-831B-03DD-A2B5B5E1EC97}"/>
              </a:ext>
            </a:extLst>
          </p:cNvPr>
          <p:cNvSpPr/>
          <p:nvPr/>
        </p:nvSpPr>
        <p:spPr>
          <a:xfrm>
            <a:off x="8572500" y="4267200"/>
            <a:ext cx="2540000" cy="457200"/>
          </a:xfrm>
          <a:prstGeom prst="roundRect">
            <a:avLst/>
          </a:prstGeom>
          <a:solidFill>
            <a:srgbClr val="E6F0FC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000" b="1">
                <a:solidFill>
                  <a:srgbClr val="2B5B9A"/>
                </a:solidFill>
                <a:latin typeface="Microsoft JhengHei" panose="020B0604030504040204" pitchFamily="34" charset="-120"/>
              </a:rPr>
              <a:t>實際參與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A6203E0E-F25F-D102-5101-53704165E17E}"/>
              </a:ext>
            </a:extLst>
          </p:cNvPr>
          <p:cNvSpPr/>
          <p:nvPr/>
        </p:nvSpPr>
        <p:spPr>
          <a:xfrm>
            <a:off x="508000" y="4762500"/>
            <a:ext cx="2159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100" b="1">
                <a:solidFill>
                  <a:srgbClr val="183055"/>
                </a:solidFill>
                <a:latin typeface="Microsoft JhengHei" panose="020B0604030504040204" pitchFamily="34" charset="-120"/>
              </a:rPr>
              <a:t>資料交付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7748881A-A3A7-B3E4-38DF-DF4B11007728}"/>
              </a:ext>
            </a:extLst>
          </p:cNvPr>
          <p:cNvSpPr/>
          <p:nvPr/>
        </p:nvSpPr>
        <p:spPr>
          <a:xfrm>
            <a:off x="2857500" y="4762500"/>
            <a:ext cx="2540000" cy="457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6E76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000" b="1">
                <a:solidFill>
                  <a:srgbClr val="6E7682"/>
                </a:solidFill>
                <a:latin typeface="Microsoft JhengHei" panose="020B0604030504040204" pitchFamily="34" charset="-120"/>
              </a:rPr>
              <a:t>後續規劃</a:t>
            </a: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E68E76DF-3402-D0FF-7DD0-02B42D923FD7}"/>
              </a:ext>
            </a:extLst>
          </p:cNvPr>
          <p:cNvSpPr/>
          <p:nvPr/>
        </p:nvSpPr>
        <p:spPr>
          <a:xfrm>
            <a:off x="5715000" y="4762500"/>
            <a:ext cx="2540000" cy="457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6E76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000" b="1">
                <a:solidFill>
                  <a:srgbClr val="6E7682"/>
                </a:solidFill>
                <a:latin typeface="Microsoft JhengHei" panose="020B0604030504040204" pitchFamily="34" charset="-120"/>
              </a:rPr>
              <a:t>後續規劃</a:t>
            </a: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DF18E754-8EFD-C62E-F397-37927C52570D}"/>
              </a:ext>
            </a:extLst>
          </p:cNvPr>
          <p:cNvSpPr/>
          <p:nvPr/>
        </p:nvSpPr>
        <p:spPr>
          <a:xfrm>
            <a:off x="8572500" y="4762500"/>
            <a:ext cx="2540000" cy="457200"/>
          </a:xfrm>
          <a:prstGeom prst="roundRect">
            <a:avLst/>
          </a:prstGeom>
          <a:solidFill>
            <a:srgbClr val="E6F0FC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000" b="1">
                <a:solidFill>
                  <a:srgbClr val="2B5B9A"/>
                </a:solidFill>
                <a:latin typeface="Microsoft JhengHei" panose="020B0604030504040204" pitchFamily="34" charset="-120"/>
              </a:rPr>
              <a:t>實際參與</a:t>
            </a: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F2A6A2FA-64C9-D54F-1F2F-AE568DABF528}"/>
              </a:ext>
            </a:extLst>
          </p:cNvPr>
          <p:cNvSpPr/>
          <p:nvPr/>
        </p:nvSpPr>
        <p:spPr>
          <a:xfrm>
            <a:off x="508000" y="5257800"/>
            <a:ext cx="2159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100" b="1">
                <a:solidFill>
                  <a:srgbClr val="183055"/>
                </a:solidFill>
                <a:latin typeface="Microsoft JhengHei" panose="020B0604030504040204" pitchFamily="34" charset="-120"/>
              </a:rPr>
              <a:t>監控維運</a:t>
            </a:r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BA85C798-C935-8DBC-3AE0-FDDA55888520}"/>
              </a:ext>
            </a:extLst>
          </p:cNvPr>
          <p:cNvSpPr/>
          <p:nvPr/>
        </p:nvSpPr>
        <p:spPr>
          <a:xfrm>
            <a:off x="2857500" y="5257800"/>
            <a:ext cx="2540000" cy="457200"/>
          </a:xfrm>
          <a:prstGeom prst="roundRect">
            <a:avLst/>
          </a:prstGeom>
          <a:solidFill>
            <a:srgbClr val="E6F0FC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000" b="1">
                <a:solidFill>
                  <a:srgbClr val="2B5B9A"/>
                </a:solidFill>
                <a:latin typeface="Microsoft JhengHei" panose="020B0604030504040204" pitchFamily="34" charset="-120"/>
              </a:rPr>
              <a:t>實際參與</a:t>
            </a: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FCE3709C-259A-3D6F-5B29-54738CA04DAF}"/>
              </a:ext>
            </a:extLst>
          </p:cNvPr>
          <p:cNvSpPr/>
          <p:nvPr/>
        </p:nvSpPr>
        <p:spPr>
          <a:xfrm>
            <a:off x="5715000" y="5257800"/>
            <a:ext cx="2540000" cy="457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6E76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000" b="1">
                <a:solidFill>
                  <a:srgbClr val="6E7682"/>
                </a:solidFill>
                <a:latin typeface="Microsoft JhengHei" panose="020B0604030504040204" pitchFamily="34" charset="-120"/>
              </a:rPr>
              <a:t>未涉及或後續規劃</a:t>
            </a:r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91434164-C38D-084E-E879-AF0F4E103BEF}"/>
              </a:ext>
            </a:extLst>
          </p:cNvPr>
          <p:cNvSpPr/>
          <p:nvPr/>
        </p:nvSpPr>
        <p:spPr>
          <a:xfrm>
            <a:off x="8572500" y="5257800"/>
            <a:ext cx="2540000" cy="457200"/>
          </a:xfrm>
          <a:prstGeom prst="roundRect">
            <a:avLst/>
          </a:prstGeom>
          <a:solidFill>
            <a:srgbClr val="E6F0FC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000" b="1">
                <a:solidFill>
                  <a:srgbClr val="2B5B9A"/>
                </a:solidFill>
                <a:latin typeface="Microsoft JhengHei" panose="020B0604030504040204" pitchFamily="34" charset="-120"/>
              </a:rPr>
              <a:t>實際參與</a:t>
            </a:r>
          </a:p>
        </p:txBody>
      </p:sp>
    </p:spTree>
    <p:extLst>
      <p:ext uri="{BB962C8B-B14F-4D97-AF65-F5344CB8AC3E}">
        <p14:creationId xmlns:p14="http://schemas.microsoft.com/office/powerpoint/2010/main" val="1045647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CAA447B-D65D-F275-A4AA-A4FA1B87D821}"/>
              </a:ext>
            </a:extLst>
          </p:cNvPr>
          <p:cNvSpPr txBox="1"/>
          <p:nvPr/>
        </p:nvSpPr>
        <p:spPr>
          <a:xfrm>
            <a:off x="558800" y="330200"/>
            <a:ext cx="7620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TW" sz="2600" b="1">
                <a:solidFill>
                  <a:srgbClr val="183055"/>
                </a:solidFill>
                <a:latin typeface="Microsoft JhengHei" panose="020B0604030504040204" pitchFamily="34" charset="-120"/>
              </a:rPr>
              <a:t>P8</a:t>
            </a:r>
            <a:r>
              <a:rPr lang="zh-TW" altLang="en-US" sz="2600" b="1">
                <a:solidFill>
                  <a:srgbClr val="183055"/>
                </a:solidFill>
                <a:latin typeface="Microsoft JhengHei" panose="020B0604030504040204" pitchFamily="34" charset="-120"/>
              </a:rPr>
              <a:t>｜資料可靠性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BC9D5FC-E091-2DDC-787E-10C7DE3DFA67}"/>
              </a:ext>
            </a:extLst>
          </p:cNvPr>
          <p:cNvSpPr txBox="1"/>
          <p:nvPr/>
        </p:nvSpPr>
        <p:spPr>
          <a:xfrm>
            <a:off x="584200" y="812800"/>
            <a:ext cx="7874000" cy="30264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TW" altLang="en-US" sz="1300">
                <a:solidFill>
                  <a:srgbClr val="6E7682"/>
                </a:solidFill>
                <a:latin typeface="Microsoft JhengHei" panose="020B0604030504040204" pitchFamily="34" charset="-120"/>
              </a:rPr>
              <a:t>核心訊息：資料管線要可追蹤、可重跑、可避免重複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B3BE2A-6903-A0B9-51CC-4A5C539A54AA}"/>
              </a:ext>
            </a:extLst>
          </p:cNvPr>
          <p:cNvSpPr/>
          <p:nvPr/>
        </p:nvSpPr>
        <p:spPr>
          <a:xfrm>
            <a:off x="558800" y="1155700"/>
            <a:ext cx="11074400" cy="19050"/>
          </a:xfrm>
          <a:prstGeom prst="rect">
            <a:avLst/>
          </a:prstGeom>
          <a:solidFill>
            <a:srgbClr val="CDD5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44CBCB7-94E2-7A0E-1943-23D3AE56C721}"/>
              </a:ext>
            </a:extLst>
          </p:cNvPr>
          <p:cNvSpPr/>
          <p:nvPr/>
        </p:nvSpPr>
        <p:spPr>
          <a:xfrm>
            <a:off x="889000" y="1676400"/>
            <a:ext cx="1524000" cy="431800"/>
          </a:xfrm>
          <a:prstGeom prst="roundRect">
            <a:avLst/>
          </a:prstGeom>
          <a:solidFill>
            <a:srgbClr val="E6F0FC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400" b="1">
                <a:solidFill>
                  <a:srgbClr val="2B5B9A"/>
                </a:solidFill>
                <a:latin typeface="Microsoft JhengHei" panose="020B0604030504040204" pitchFamily="34" charset="-120"/>
              </a:rPr>
              <a:t>成功路徑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08EA81D5-279F-929F-A005-E60E0118D8D8}"/>
              </a:ext>
            </a:extLst>
          </p:cNvPr>
          <p:cNvSpPr/>
          <p:nvPr/>
        </p:nvSpPr>
        <p:spPr>
          <a:xfrm>
            <a:off x="2794000" y="1587500"/>
            <a:ext cx="1905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300" b="1">
                <a:solidFill>
                  <a:srgbClr val="183055"/>
                </a:solidFill>
                <a:latin typeface="Microsoft JhengHei" panose="020B0604030504040204" pitchFamily="34" charset="-120"/>
              </a:rPr>
              <a:t>資料處理</a:t>
            </a: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6C24F84D-0C09-0479-5C5F-5910BF0F4B1B}"/>
              </a:ext>
            </a:extLst>
          </p:cNvPr>
          <p:cNvCxnSpPr/>
          <p:nvPr/>
        </p:nvCxnSpPr>
        <p:spPr>
          <a:xfrm>
            <a:off x="4699000" y="1892300"/>
            <a:ext cx="508000" cy="0"/>
          </a:xfrm>
          <a:prstGeom prst="straightConnector1">
            <a:avLst/>
          </a:prstGeom>
          <a:ln w="25400">
            <a:solidFill>
              <a:srgbClr val="2B5B9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E627944-72AA-757C-B576-1AFDA57878A5}"/>
              </a:ext>
            </a:extLst>
          </p:cNvPr>
          <p:cNvSpPr/>
          <p:nvPr/>
        </p:nvSpPr>
        <p:spPr>
          <a:xfrm>
            <a:off x="5270500" y="1587500"/>
            <a:ext cx="1905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300" b="1">
                <a:solidFill>
                  <a:srgbClr val="183055"/>
                </a:solidFill>
                <a:latin typeface="Microsoft JhengHei" panose="020B0604030504040204" pitchFamily="34" charset="-120"/>
              </a:rPr>
              <a:t>成功寫入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34279AF0-8111-8090-9730-32373657CCDB}"/>
              </a:ext>
            </a:extLst>
          </p:cNvPr>
          <p:cNvCxnSpPr/>
          <p:nvPr/>
        </p:nvCxnSpPr>
        <p:spPr>
          <a:xfrm>
            <a:off x="7175500" y="1892300"/>
            <a:ext cx="508000" cy="0"/>
          </a:xfrm>
          <a:prstGeom prst="straightConnector1">
            <a:avLst/>
          </a:prstGeom>
          <a:ln w="25400">
            <a:solidFill>
              <a:srgbClr val="2B5B9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E8AF58D-A062-38BD-37D0-42C7E0955F8E}"/>
              </a:ext>
            </a:extLst>
          </p:cNvPr>
          <p:cNvSpPr/>
          <p:nvPr/>
        </p:nvSpPr>
        <p:spPr>
          <a:xfrm>
            <a:off x="7747000" y="1587500"/>
            <a:ext cx="1905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300" b="1">
                <a:solidFill>
                  <a:srgbClr val="183055"/>
                </a:solidFill>
                <a:latin typeface="Microsoft JhengHei" panose="020B0604030504040204" pitchFamily="34" charset="-120"/>
              </a:rPr>
              <a:t>Watermark / Offset / Checkpoint</a:t>
            </a:r>
            <a:endParaRPr lang="zh-TW" altLang="en-US" sz="1300" b="1">
              <a:solidFill>
                <a:srgbClr val="183055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21D0FD5-B8F7-7854-A9B4-5B3E49E6D438}"/>
              </a:ext>
            </a:extLst>
          </p:cNvPr>
          <p:cNvSpPr/>
          <p:nvPr/>
        </p:nvSpPr>
        <p:spPr>
          <a:xfrm>
            <a:off x="889000" y="3175000"/>
            <a:ext cx="1524000" cy="431800"/>
          </a:xfrm>
          <a:prstGeom prst="roundRect">
            <a:avLst/>
          </a:prstGeom>
          <a:solidFill>
            <a:srgbClr val="FFF6E2"/>
          </a:solidFill>
          <a:ln w="12700">
            <a:solidFill>
              <a:srgbClr val="B87C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400" b="1">
                <a:solidFill>
                  <a:srgbClr val="B87C20"/>
                </a:solidFill>
                <a:latin typeface="Microsoft JhengHei" panose="020B0604030504040204" pitchFamily="34" charset="-120"/>
              </a:rPr>
              <a:t>失敗路徑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52D0C606-0BEB-C583-B0BA-EA923882BA4D}"/>
              </a:ext>
            </a:extLst>
          </p:cNvPr>
          <p:cNvSpPr/>
          <p:nvPr/>
        </p:nvSpPr>
        <p:spPr>
          <a:xfrm>
            <a:off x="2794000" y="3048000"/>
            <a:ext cx="1651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200" b="1">
                <a:solidFill>
                  <a:srgbClr val="20262E"/>
                </a:solidFill>
                <a:latin typeface="Microsoft JhengHei" panose="020B0604030504040204" pitchFamily="34" charset="-120"/>
              </a:rPr>
              <a:t>資料處理失敗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DF188755-BFC8-A6EF-3455-9BC2DB38697D}"/>
              </a:ext>
            </a:extLst>
          </p:cNvPr>
          <p:cNvCxnSpPr/>
          <p:nvPr/>
        </p:nvCxnSpPr>
        <p:spPr>
          <a:xfrm>
            <a:off x="4445000" y="3416300"/>
            <a:ext cx="254000" cy="0"/>
          </a:xfrm>
          <a:prstGeom prst="straightConnector1">
            <a:avLst/>
          </a:prstGeom>
          <a:ln w="25400">
            <a:solidFill>
              <a:srgbClr val="B87C2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44D4C4E6-49B2-B4BB-C00F-3EC8CF421EA9}"/>
              </a:ext>
            </a:extLst>
          </p:cNvPr>
          <p:cNvSpPr/>
          <p:nvPr/>
        </p:nvSpPr>
        <p:spPr>
          <a:xfrm>
            <a:off x="4762500" y="3048000"/>
            <a:ext cx="1651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200" b="1">
                <a:solidFill>
                  <a:srgbClr val="20262E"/>
                </a:solidFill>
                <a:latin typeface="Microsoft JhengHei" panose="020B0604030504040204" pitchFamily="34" charset="-120"/>
              </a:rPr>
              <a:t>Retry / Backfill</a:t>
            </a:r>
            <a:endParaRPr lang="zh-TW" altLang="en-US" sz="1200" b="1">
              <a:solidFill>
                <a:srgbClr val="20262E"/>
              </a:solidFill>
              <a:latin typeface="Microsoft JhengHei" panose="020B0604030504040204" pitchFamily="34" charset="-120"/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F99A0700-B1B6-0172-9A67-3291AF10B592}"/>
              </a:ext>
            </a:extLst>
          </p:cNvPr>
          <p:cNvCxnSpPr/>
          <p:nvPr/>
        </p:nvCxnSpPr>
        <p:spPr>
          <a:xfrm>
            <a:off x="6413500" y="3416300"/>
            <a:ext cx="254000" cy="0"/>
          </a:xfrm>
          <a:prstGeom prst="straightConnector1">
            <a:avLst/>
          </a:prstGeom>
          <a:ln w="25400">
            <a:solidFill>
              <a:srgbClr val="B87C2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A16F1062-8243-8DDA-5AC3-DDF9F97A330F}"/>
              </a:ext>
            </a:extLst>
          </p:cNvPr>
          <p:cNvSpPr/>
          <p:nvPr/>
        </p:nvSpPr>
        <p:spPr>
          <a:xfrm>
            <a:off x="6731000" y="3048000"/>
            <a:ext cx="1651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200" b="1">
                <a:solidFill>
                  <a:srgbClr val="20262E"/>
                </a:solidFill>
                <a:latin typeface="Microsoft JhengHei" panose="020B0604030504040204" pitchFamily="34" charset="-120"/>
              </a:rPr>
              <a:t>重跑</a:t>
            </a: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5911974-D393-363E-B4D5-DEA068AE98FD}"/>
              </a:ext>
            </a:extLst>
          </p:cNvPr>
          <p:cNvCxnSpPr/>
          <p:nvPr/>
        </p:nvCxnSpPr>
        <p:spPr>
          <a:xfrm>
            <a:off x="8382000" y="3416300"/>
            <a:ext cx="254000" cy="0"/>
          </a:xfrm>
          <a:prstGeom prst="straightConnector1">
            <a:avLst/>
          </a:prstGeom>
          <a:ln w="25400">
            <a:solidFill>
              <a:srgbClr val="B87C2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B903628A-63D2-A3BD-8B14-D90348FDA448}"/>
              </a:ext>
            </a:extLst>
          </p:cNvPr>
          <p:cNvSpPr/>
          <p:nvPr/>
        </p:nvSpPr>
        <p:spPr>
          <a:xfrm>
            <a:off x="8699500" y="3048000"/>
            <a:ext cx="1651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200" b="1">
                <a:solidFill>
                  <a:srgbClr val="20262E"/>
                </a:solidFill>
                <a:latin typeface="Microsoft JhengHei" panose="020B0604030504040204" pitchFamily="34" charset="-120"/>
              </a:rPr>
              <a:t>DELETE-INSERT /
ReplacingMergeTree </a:t>
            </a:r>
            <a:r>
              <a:rPr lang="zh-TW" altLang="en-US" sz="1200" b="1">
                <a:solidFill>
                  <a:srgbClr val="20262E"/>
                </a:solidFill>
                <a:latin typeface="Microsoft JhengHei" panose="020B0604030504040204" pitchFamily="34" charset="-120"/>
              </a:rPr>
              <a:t>去重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7462847F-3923-C21D-32AB-EB9DDDB323C6}"/>
              </a:ext>
            </a:extLst>
          </p:cNvPr>
          <p:cNvSpPr/>
          <p:nvPr/>
        </p:nvSpPr>
        <p:spPr>
          <a:xfrm>
            <a:off x="2794000" y="4724400"/>
            <a:ext cx="6604000" cy="609600"/>
          </a:xfrm>
          <a:prstGeom prst="roundRect">
            <a:avLst/>
          </a:prstGeom>
          <a:solidFill>
            <a:srgbClr val="E5F5EE"/>
          </a:solidFill>
          <a:ln w="12700">
            <a:solidFill>
              <a:srgbClr val="2C82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700" b="1">
                <a:solidFill>
                  <a:srgbClr val="2C825F"/>
                </a:solidFill>
                <a:latin typeface="Microsoft JhengHei" panose="020B0604030504040204" pitchFamily="34" charset="-120"/>
              </a:rPr>
              <a:t>目標：降低資料遺失風險，讓結果一致且可恢復</a:t>
            </a:r>
          </a:p>
        </p:txBody>
      </p:sp>
    </p:spTree>
    <p:extLst>
      <p:ext uri="{BB962C8B-B14F-4D97-AF65-F5344CB8AC3E}">
        <p14:creationId xmlns:p14="http://schemas.microsoft.com/office/powerpoint/2010/main" val="709291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382614B-E4D7-B1BB-FC67-F11CE93076D5}"/>
              </a:ext>
            </a:extLst>
          </p:cNvPr>
          <p:cNvSpPr txBox="1"/>
          <p:nvPr/>
        </p:nvSpPr>
        <p:spPr>
          <a:xfrm>
            <a:off x="558800" y="330200"/>
            <a:ext cx="7620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TW" sz="2600" b="1">
                <a:solidFill>
                  <a:srgbClr val="183055"/>
                </a:solidFill>
                <a:latin typeface="Microsoft JhengHei" panose="020B0604030504040204" pitchFamily="34" charset="-120"/>
              </a:rPr>
              <a:t>P9</a:t>
            </a:r>
            <a:r>
              <a:rPr lang="zh-TW" altLang="en-US" sz="2600" b="1">
                <a:solidFill>
                  <a:srgbClr val="183055"/>
                </a:solidFill>
                <a:latin typeface="Microsoft JhengHei" panose="020B0604030504040204" pitchFamily="34" charset="-120"/>
              </a:rPr>
              <a:t>｜資料品質、效能與監控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F3545C2-3F6E-1B99-B7F4-51107216C796}"/>
              </a:ext>
            </a:extLst>
          </p:cNvPr>
          <p:cNvSpPr txBox="1"/>
          <p:nvPr/>
        </p:nvSpPr>
        <p:spPr>
          <a:xfrm>
            <a:off x="584200" y="812800"/>
            <a:ext cx="7874000" cy="30264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TW" altLang="en-US" sz="1300">
                <a:solidFill>
                  <a:srgbClr val="6E7682"/>
                </a:solidFill>
                <a:latin typeface="Microsoft JhengHei" panose="020B0604030504040204" pitchFamily="34" charset="-120"/>
              </a:rPr>
              <a:t>核心訊息：穩定資料管線來自品質、資源與可觀測性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9E8097-C42F-9068-A1AC-BC6CBBB2D881}"/>
              </a:ext>
            </a:extLst>
          </p:cNvPr>
          <p:cNvSpPr/>
          <p:nvPr/>
        </p:nvSpPr>
        <p:spPr>
          <a:xfrm>
            <a:off x="558800" y="1155700"/>
            <a:ext cx="11074400" cy="19050"/>
          </a:xfrm>
          <a:prstGeom prst="rect">
            <a:avLst/>
          </a:prstGeom>
          <a:solidFill>
            <a:srgbClr val="CDD5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4DF8D79-677D-7D93-4046-E631DD104B7F}"/>
              </a:ext>
            </a:extLst>
          </p:cNvPr>
          <p:cNvSpPr/>
          <p:nvPr/>
        </p:nvSpPr>
        <p:spPr>
          <a:xfrm>
            <a:off x="990600" y="1778000"/>
            <a:ext cx="2921000" cy="533400"/>
          </a:xfrm>
          <a:prstGeom prst="roundRect">
            <a:avLst/>
          </a:prstGeom>
          <a:solidFill>
            <a:srgbClr val="2B5B9A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700" b="1">
                <a:solidFill>
                  <a:srgbClr val="FFFFFF"/>
                </a:solidFill>
                <a:latin typeface="Microsoft JhengHei" panose="020B0604030504040204" pitchFamily="34" charset="-120"/>
              </a:rPr>
              <a:t>品質檢核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13E730B-ACF9-4635-7EC7-41BEF1EBF977}"/>
              </a:ext>
            </a:extLst>
          </p:cNvPr>
          <p:cNvSpPr/>
          <p:nvPr/>
        </p:nvSpPr>
        <p:spPr>
          <a:xfrm>
            <a:off x="990600" y="2387600"/>
            <a:ext cx="29210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700">
                <a:solidFill>
                  <a:srgbClr val="20262E"/>
                </a:solidFill>
                <a:latin typeface="Microsoft JhengHei" panose="020B0604030504040204" pitchFamily="34" charset="-120"/>
              </a:rPr>
              <a:t>processed vs expected
data loss rate
topic success rate
file integrity
watermark / offset </a:t>
            </a:r>
            <a:r>
              <a:rPr lang="zh-TW" altLang="en-US" sz="1700">
                <a:solidFill>
                  <a:srgbClr val="20262E"/>
                </a:solidFill>
                <a:latin typeface="Microsoft JhengHei" panose="020B0604030504040204" pitchFamily="34" charset="-120"/>
              </a:rPr>
              <a:t>狀態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87F6A3E-D2B6-3290-0863-43AE4C5E516A}"/>
              </a:ext>
            </a:extLst>
          </p:cNvPr>
          <p:cNvSpPr/>
          <p:nvPr/>
        </p:nvSpPr>
        <p:spPr>
          <a:xfrm>
            <a:off x="4610100" y="1778000"/>
            <a:ext cx="2921000" cy="533400"/>
          </a:xfrm>
          <a:prstGeom prst="roundRect">
            <a:avLst/>
          </a:prstGeom>
          <a:solidFill>
            <a:srgbClr val="2B5B9A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700" b="1">
                <a:solidFill>
                  <a:srgbClr val="FFFFFF"/>
                </a:solidFill>
                <a:latin typeface="Microsoft JhengHei" panose="020B0604030504040204" pitchFamily="34" charset="-120"/>
              </a:rPr>
              <a:t>效能與資源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D904B44-E9B0-3676-A9B8-907166EC45C3}"/>
              </a:ext>
            </a:extLst>
          </p:cNvPr>
          <p:cNvSpPr/>
          <p:nvPr/>
        </p:nvSpPr>
        <p:spPr>
          <a:xfrm>
            <a:off x="4610100" y="2387600"/>
            <a:ext cx="29210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700">
                <a:solidFill>
                  <a:srgbClr val="20262E"/>
                </a:solidFill>
                <a:latin typeface="Microsoft JhengHei" panose="020B0604030504040204" pitchFamily="34" charset="-120"/>
              </a:rPr>
              <a:t>batch size
memory limit
micro-batch
DuckDB threads
</a:t>
            </a:r>
            <a:r>
              <a:rPr lang="zh-TW" altLang="en-US" sz="1700">
                <a:solidFill>
                  <a:srgbClr val="20262E"/>
                </a:solidFill>
                <a:latin typeface="Microsoft JhengHei" panose="020B0604030504040204" pitchFamily="34" charset="-120"/>
              </a:rPr>
              <a:t>分區與預聚合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C172D99-C9AF-6D61-21EE-2A72C2B0E6D4}"/>
              </a:ext>
            </a:extLst>
          </p:cNvPr>
          <p:cNvSpPr/>
          <p:nvPr/>
        </p:nvSpPr>
        <p:spPr>
          <a:xfrm>
            <a:off x="8229600" y="1778000"/>
            <a:ext cx="2921000" cy="533400"/>
          </a:xfrm>
          <a:prstGeom prst="roundRect">
            <a:avLst/>
          </a:prstGeom>
          <a:solidFill>
            <a:srgbClr val="2B5B9A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700" b="1">
                <a:solidFill>
                  <a:srgbClr val="FFFFFF"/>
                </a:solidFill>
                <a:latin typeface="Microsoft JhengHei" panose="020B0604030504040204" pitchFamily="34" charset="-120"/>
              </a:rPr>
              <a:t>可觀測性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65CBF30-0121-8489-E6BC-8DA04219BC2C}"/>
              </a:ext>
            </a:extLst>
          </p:cNvPr>
          <p:cNvSpPr/>
          <p:nvPr/>
        </p:nvSpPr>
        <p:spPr>
          <a:xfrm>
            <a:off x="8229600" y="2387600"/>
            <a:ext cx="29210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700">
                <a:solidFill>
                  <a:srgbClr val="20262E"/>
                </a:solidFill>
                <a:latin typeface="Microsoft JhengHei" panose="020B0604030504040204" pitchFamily="34" charset="-120"/>
              </a:rPr>
              <a:t>Airflow log
structured log
OTEL metrics
Prometheus
Grafana</a:t>
            </a:r>
            <a:endParaRPr lang="zh-TW" altLang="en-US" sz="1700">
              <a:solidFill>
                <a:srgbClr val="20262E"/>
              </a:solidFill>
              <a:latin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7304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FD2CD08-1777-A1E7-FCDF-C24521D75ABA}"/>
              </a:ext>
            </a:extLst>
          </p:cNvPr>
          <p:cNvSpPr txBox="1"/>
          <p:nvPr/>
        </p:nvSpPr>
        <p:spPr>
          <a:xfrm>
            <a:off x="558800" y="330200"/>
            <a:ext cx="7620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TW" sz="2600" b="1">
                <a:solidFill>
                  <a:srgbClr val="183055"/>
                </a:solidFill>
                <a:latin typeface="Microsoft JhengHei" panose="020B0604030504040204" pitchFamily="34" charset="-120"/>
              </a:rPr>
              <a:t>P10</a:t>
            </a:r>
            <a:r>
              <a:rPr lang="zh-TW" altLang="en-US" sz="2600" b="1">
                <a:solidFill>
                  <a:srgbClr val="183055"/>
                </a:solidFill>
                <a:latin typeface="Microsoft JhengHei" panose="020B0604030504040204" pitchFamily="34" charset="-120"/>
              </a:rPr>
              <a:t>｜跨團隊協作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E691531-BA33-67E2-DE54-8C7DCF8916C3}"/>
              </a:ext>
            </a:extLst>
          </p:cNvPr>
          <p:cNvSpPr txBox="1"/>
          <p:nvPr/>
        </p:nvSpPr>
        <p:spPr>
          <a:xfrm>
            <a:off x="584200" y="812800"/>
            <a:ext cx="7874000" cy="30264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TW" altLang="en-US" sz="1300">
                <a:solidFill>
                  <a:srgbClr val="6E7682"/>
                </a:solidFill>
                <a:latin typeface="Microsoft JhengHei" panose="020B0604030504040204" pitchFamily="34" charset="-120"/>
              </a:rPr>
              <a:t>核心訊息：資料工程師串起需求、來源、平台與交付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FD71B-B38B-9181-31C3-371DB096C061}"/>
              </a:ext>
            </a:extLst>
          </p:cNvPr>
          <p:cNvSpPr/>
          <p:nvPr/>
        </p:nvSpPr>
        <p:spPr>
          <a:xfrm>
            <a:off x="558800" y="1155700"/>
            <a:ext cx="11074400" cy="19050"/>
          </a:xfrm>
          <a:prstGeom prst="rect">
            <a:avLst/>
          </a:prstGeom>
          <a:solidFill>
            <a:srgbClr val="CDD5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B946CDC-25D3-985B-A52C-CA64377AF968}"/>
              </a:ext>
            </a:extLst>
          </p:cNvPr>
          <p:cNvSpPr/>
          <p:nvPr/>
        </p:nvSpPr>
        <p:spPr>
          <a:xfrm>
            <a:off x="4953000" y="2857500"/>
            <a:ext cx="2286000" cy="914400"/>
          </a:xfrm>
          <a:prstGeom prst="roundRect">
            <a:avLst/>
          </a:prstGeom>
          <a:solidFill>
            <a:srgbClr val="E6F0FC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2000" b="1">
                <a:solidFill>
                  <a:srgbClr val="183055"/>
                </a:solidFill>
                <a:latin typeface="Microsoft JhengHei" panose="020B0604030504040204" pitchFamily="34" charset="-120"/>
              </a:rPr>
              <a:t>資料工程師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59BA9CC8-54C5-3331-A947-870E18B7F11A}"/>
              </a:ext>
            </a:extLst>
          </p:cNvPr>
          <p:cNvSpPr/>
          <p:nvPr/>
        </p:nvSpPr>
        <p:spPr>
          <a:xfrm>
            <a:off x="1143000" y="1714500"/>
            <a:ext cx="2794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400" b="1">
                <a:solidFill>
                  <a:srgbClr val="20262E"/>
                </a:solidFill>
                <a:latin typeface="Microsoft JhengHei" panose="020B0604030504040204" pitchFamily="34" charset="-120"/>
              </a:rPr>
              <a:t>製造 </a:t>
            </a:r>
            <a:r>
              <a:rPr lang="en-US" altLang="zh-TW" sz="1400" b="1">
                <a:solidFill>
                  <a:srgbClr val="20262E"/>
                </a:solidFill>
                <a:latin typeface="Microsoft JhengHei" panose="020B0604030504040204" pitchFamily="34" charset="-120"/>
              </a:rPr>
              <a:t>/ </a:t>
            </a:r>
            <a:r>
              <a:rPr lang="zh-TW" altLang="en-US" sz="1400" b="1">
                <a:solidFill>
                  <a:srgbClr val="20262E"/>
                </a:solidFill>
                <a:latin typeface="Microsoft JhengHei" panose="020B0604030504040204" pitchFamily="34" charset="-120"/>
              </a:rPr>
              <a:t>業務
分析需求、</a:t>
            </a:r>
            <a:r>
              <a:rPr lang="en-US" altLang="zh-TW" sz="1400" b="1">
                <a:solidFill>
                  <a:srgbClr val="20262E"/>
                </a:solidFill>
                <a:latin typeface="Microsoft JhengHei" panose="020B0604030504040204" pitchFamily="34" charset="-120"/>
              </a:rPr>
              <a:t>KPI
</a:t>
            </a:r>
            <a:r>
              <a:rPr lang="zh-TW" altLang="en-US" sz="1400" b="1">
                <a:solidFill>
                  <a:srgbClr val="20262E"/>
                </a:solidFill>
                <a:latin typeface="Microsoft JhengHei" panose="020B0604030504040204" pitchFamily="34" charset="-120"/>
              </a:rPr>
              <a:t>使用情境</a:t>
            </a: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8BBE622A-6DEE-250E-04D6-C797AACDDEAF}"/>
              </a:ext>
            </a:extLst>
          </p:cNvPr>
          <p:cNvCxnSpPr/>
          <p:nvPr/>
        </p:nvCxnSpPr>
        <p:spPr>
          <a:xfrm>
            <a:off x="2540000" y="2209800"/>
            <a:ext cx="3556000" cy="1104900"/>
          </a:xfrm>
          <a:prstGeom prst="straightConnector1">
            <a:avLst/>
          </a:prstGeom>
          <a:ln w="25400">
            <a:solidFill>
              <a:srgbClr val="2B5B9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13FA62C-C05C-EF35-F48B-88F530E8D386}"/>
              </a:ext>
            </a:extLst>
          </p:cNvPr>
          <p:cNvSpPr/>
          <p:nvPr/>
        </p:nvSpPr>
        <p:spPr>
          <a:xfrm>
            <a:off x="8255000" y="1714500"/>
            <a:ext cx="2794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400" b="1">
                <a:solidFill>
                  <a:srgbClr val="20262E"/>
                </a:solidFill>
                <a:latin typeface="Microsoft JhengHei" panose="020B0604030504040204" pitchFamily="34" charset="-120"/>
              </a:rPr>
              <a:t>來源系統 </a:t>
            </a:r>
            <a:r>
              <a:rPr lang="en-US" altLang="zh-TW" sz="1400" b="1">
                <a:solidFill>
                  <a:srgbClr val="20262E"/>
                </a:solidFill>
                <a:latin typeface="Microsoft JhengHei" panose="020B0604030504040204" pitchFamily="34" charset="-120"/>
              </a:rPr>
              <a:t>/ DB
</a:t>
            </a:r>
            <a:r>
              <a:rPr lang="zh-TW" altLang="en-US" sz="1400" b="1">
                <a:solidFill>
                  <a:srgbClr val="20262E"/>
                </a:solidFill>
                <a:latin typeface="Microsoft JhengHei" panose="020B0604030504040204" pitchFamily="34" charset="-120"/>
              </a:rPr>
              <a:t>資料來源、欄位邏輯
唯讀限制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ED274FC-4EF2-78A8-1FA4-ABBA5EB3CD31}"/>
              </a:ext>
            </a:extLst>
          </p:cNvPr>
          <p:cNvCxnSpPr/>
          <p:nvPr/>
        </p:nvCxnSpPr>
        <p:spPr>
          <a:xfrm flipH="1">
            <a:off x="6096000" y="2209800"/>
            <a:ext cx="3556000" cy="1104900"/>
          </a:xfrm>
          <a:prstGeom prst="straightConnector1">
            <a:avLst/>
          </a:prstGeom>
          <a:ln w="25400">
            <a:solidFill>
              <a:srgbClr val="2B5B9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B61F64F-CF0B-4DA4-7A5E-F7735B74F1A5}"/>
              </a:ext>
            </a:extLst>
          </p:cNvPr>
          <p:cNvSpPr/>
          <p:nvPr/>
        </p:nvSpPr>
        <p:spPr>
          <a:xfrm>
            <a:off x="1143000" y="4381500"/>
            <a:ext cx="2794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400" b="1">
                <a:solidFill>
                  <a:srgbClr val="20262E"/>
                </a:solidFill>
                <a:latin typeface="Microsoft JhengHei" panose="020B0604030504040204" pitchFamily="34" charset="-120"/>
              </a:rPr>
              <a:t>IT / Infra
</a:t>
            </a:r>
            <a:r>
              <a:rPr lang="zh-TW" altLang="en-US" sz="1400" b="1">
                <a:solidFill>
                  <a:srgbClr val="20262E"/>
                </a:solidFill>
                <a:latin typeface="Microsoft JhengHei" panose="020B0604030504040204" pitchFamily="34" charset="-120"/>
              </a:rPr>
              <a:t>環境、權限
容器與監控資源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930C897C-64D5-7C69-422E-7447705B7163}"/>
              </a:ext>
            </a:extLst>
          </p:cNvPr>
          <p:cNvCxnSpPr/>
          <p:nvPr/>
        </p:nvCxnSpPr>
        <p:spPr>
          <a:xfrm flipV="1">
            <a:off x="2540000" y="3314700"/>
            <a:ext cx="3556000" cy="1562100"/>
          </a:xfrm>
          <a:prstGeom prst="straightConnector1">
            <a:avLst/>
          </a:prstGeom>
          <a:ln w="25400">
            <a:solidFill>
              <a:srgbClr val="2B5B9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D576CBC-E5D0-B12A-7A6B-3FB41BB8ACEF}"/>
              </a:ext>
            </a:extLst>
          </p:cNvPr>
          <p:cNvSpPr/>
          <p:nvPr/>
        </p:nvSpPr>
        <p:spPr>
          <a:xfrm>
            <a:off x="8255000" y="4381500"/>
            <a:ext cx="2794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400" b="1">
                <a:solidFill>
                  <a:srgbClr val="20262E"/>
                </a:solidFill>
                <a:latin typeface="Microsoft JhengHei" panose="020B0604030504040204" pitchFamily="34" charset="-120"/>
              </a:rPr>
              <a:t>BI / </a:t>
            </a:r>
            <a:r>
              <a:rPr lang="zh-TW" altLang="en-US" sz="1400" b="1">
                <a:solidFill>
                  <a:srgbClr val="20262E"/>
                </a:solidFill>
                <a:latin typeface="Microsoft JhengHei" panose="020B0604030504040204" pitchFamily="34" charset="-120"/>
              </a:rPr>
              <a:t>應用
語義層、</a:t>
            </a:r>
            <a:r>
              <a:rPr lang="en-US" altLang="zh-TW" sz="1400" b="1">
                <a:solidFill>
                  <a:srgbClr val="20262E"/>
                </a:solidFill>
                <a:latin typeface="Microsoft JhengHei" panose="020B0604030504040204" pitchFamily="34" charset="-120"/>
              </a:rPr>
              <a:t>Dashboard
API</a:t>
            </a:r>
            <a:r>
              <a:rPr lang="zh-TW" altLang="en-US" sz="1400" b="1">
                <a:solidFill>
                  <a:srgbClr val="20262E"/>
                </a:solidFill>
                <a:latin typeface="Microsoft JhengHei" panose="020B0604030504040204" pitchFamily="34" charset="-120"/>
              </a:rPr>
              <a:t>、報表需求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9F808720-49A7-5BAC-093A-70A71A352ACD}"/>
              </a:ext>
            </a:extLst>
          </p:cNvPr>
          <p:cNvCxnSpPr/>
          <p:nvPr/>
        </p:nvCxnSpPr>
        <p:spPr>
          <a:xfrm flipH="1" flipV="1">
            <a:off x="6096000" y="3314700"/>
            <a:ext cx="3556000" cy="1562100"/>
          </a:xfrm>
          <a:prstGeom prst="straightConnector1">
            <a:avLst/>
          </a:prstGeom>
          <a:ln w="25400">
            <a:solidFill>
              <a:srgbClr val="2B5B9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411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B4DD22F-38A3-454C-30B4-35CB814880E9}"/>
              </a:ext>
            </a:extLst>
          </p:cNvPr>
          <p:cNvSpPr txBox="1"/>
          <p:nvPr/>
        </p:nvSpPr>
        <p:spPr>
          <a:xfrm>
            <a:off x="558800" y="330200"/>
            <a:ext cx="7620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TW" sz="2600" b="1">
                <a:solidFill>
                  <a:srgbClr val="183055"/>
                </a:solidFill>
                <a:latin typeface="Microsoft JhengHei" panose="020B0604030504040204" pitchFamily="34" charset="-120"/>
              </a:rPr>
              <a:t>P11</a:t>
            </a:r>
            <a:r>
              <a:rPr lang="zh-TW" altLang="en-US" sz="2600" b="1">
                <a:solidFill>
                  <a:srgbClr val="183055"/>
                </a:solidFill>
                <a:latin typeface="Microsoft JhengHei" panose="020B0604030504040204" pitchFamily="34" charset="-120"/>
              </a:rPr>
              <a:t>｜能力總結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621EBE4-33C3-714C-5537-8D958D129B03}"/>
              </a:ext>
            </a:extLst>
          </p:cNvPr>
          <p:cNvSpPr txBox="1"/>
          <p:nvPr/>
        </p:nvSpPr>
        <p:spPr>
          <a:xfrm>
            <a:off x="584200" y="812800"/>
            <a:ext cx="7874000" cy="30264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TW" altLang="en-US" sz="1300">
                <a:solidFill>
                  <a:srgbClr val="6E7682"/>
                </a:solidFill>
                <a:latin typeface="Microsoft JhengHei" panose="020B0604030504040204" pitchFamily="34" charset="-120"/>
              </a:rPr>
              <a:t>核心訊息：我的資料工程能力可歸納為四個面向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2B32CD-6776-8826-F12B-EFDD69EDBD83}"/>
              </a:ext>
            </a:extLst>
          </p:cNvPr>
          <p:cNvSpPr/>
          <p:nvPr/>
        </p:nvSpPr>
        <p:spPr>
          <a:xfrm>
            <a:off x="558800" y="1155700"/>
            <a:ext cx="11074400" cy="19050"/>
          </a:xfrm>
          <a:prstGeom prst="rect">
            <a:avLst/>
          </a:prstGeom>
          <a:solidFill>
            <a:srgbClr val="CDD5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7399C48-99BF-9E2E-B9CA-2224F77B0041}"/>
              </a:ext>
            </a:extLst>
          </p:cNvPr>
          <p:cNvSpPr/>
          <p:nvPr/>
        </p:nvSpPr>
        <p:spPr>
          <a:xfrm>
            <a:off x="1244600" y="1841500"/>
            <a:ext cx="4064000" cy="609600"/>
          </a:xfrm>
          <a:prstGeom prst="roundRect">
            <a:avLst/>
          </a:prstGeom>
          <a:solidFill>
            <a:srgbClr val="2B5B9A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700" b="1">
                <a:solidFill>
                  <a:srgbClr val="FFFFFF"/>
                </a:solidFill>
                <a:latin typeface="Microsoft JhengHei" panose="020B0604030504040204" pitchFamily="34" charset="-120"/>
              </a:rPr>
              <a:t>端到端資料交付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000D1252-717E-61FD-55DE-8B0D5F8CE45C}"/>
              </a:ext>
            </a:extLst>
          </p:cNvPr>
          <p:cNvSpPr/>
          <p:nvPr/>
        </p:nvSpPr>
        <p:spPr>
          <a:xfrm>
            <a:off x="1244600" y="2501900"/>
            <a:ext cx="4064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從來源資料到 </a:t>
            </a:r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BI / API / Dashboard</a:t>
            </a:r>
            <a:endParaRPr lang="zh-TW" altLang="en-US" sz="1300">
              <a:solidFill>
                <a:srgbClr val="20262E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FE0BA28-1EB2-25D5-B8DB-73B762C1628F}"/>
              </a:ext>
            </a:extLst>
          </p:cNvPr>
          <p:cNvSpPr/>
          <p:nvPr/>
        </p:nvSpPr>
        <p:spPr>
          <a:xfrm>
            <a:off x="6134100" y="1841500"/>
            <a:ext cx="4064000" cy="609600"/>
          </a:xfrm>
          <a:prstGeom prst="roundRect">
            <a:avLst/>
          </a:prstGeom>
          <a:solidFill>
            <a:srgbClr val="2B5B9A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700" b="1">
                <a:solidFill>
                  <a:srgbClr val="FFFFFF"/>
                </a:solidFill>
                <a:latin typeface="Microsoft JhengHei" panose="020B0604030504040204" pitchFamily="34" charset="-120"/>
              </a:rPr>
              <a:t>批次與串流管線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68B3EC1-D973-B379-9F71-14F932BC7787}"/>
              </a:ext>
            </a:extLst>
          </p:cNvPr>
          <p:cNvSpPr/>
          <p:nvPr/>
        </p:nvSpPr>
        <p:spPr>
          <a:xfrm>
            <a:off x="6134100" y="2501900"/>
            <a:ext cx="4064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Kafka</a:t>
            </a:r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ODBC</a:t>
            </a:r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SeaTunnel</a:t>
            </a:r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Airflow</a:t>
            </a:r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Cron</a:t>
            </a:r>
            <a:endParaRPr lang="zh-TW" altLang="en-US" sz="1300">
              <a:solidFill>
                <a:srgbClr val="20262E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7BE6E50-62DE-E603-B416-2D03BF01E94C}"/>
              </a:ext>
            </a:extLst>
          </p:cNvPr>
          <p:cNvSpPr/>
          <p:nvPr/>
        </p:nvSpPr>
        <p:spPr>
          <a:xfrm>
            <a:off x="1244600" y="3683000"/>
            <a:ext cx="4064000" cy="609600"/>
          </a:xfrm>
          <a:prstGeom prst="roundRect">
            <a:avLst/>
          </a:prstGeom>
          <a:solidFill>
            <a:srgbClr val="2B5B9A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700" b="1">
                <a:solidFill>
                  <a:srgbClr val="FFFFFF"/>
                </a:solidFill>
                <a:latin typeface="Microsoft JhengHei" panose="020B0604030504040204" pitchFamily="34" charset="-120"/>
              </a:rPr>
              <a:t>品質、效能與可靠性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32C8B98-C927-F981-1D35-5F9C0DE045D7}"/>
              </a:ext>
            </a:extLst>
          </p:cNvPr>
          <p:cNvSpPr/>
          <p:nvPr/>
        </p:nvSpPr>
        <p:spPr>
          <a:xfrm>
            <a:off x="1244600" y="4343400"/>
            <a:ext cx="4064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offset</a:t>
            </a:r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watermark</a:t>
            </a:r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retry</a:t>
            </a:r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backfill</a:t>
            </a:r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300">
                <a:solidFill>
                  <a:srgbClr val="20262E"/>
                </a:solidFill>
                <a:latin typeface="Microsoft JhengHei" panose="020B0604030504040204" pitchFamily="34" charset="-120"/>
              </a:rPr>
              <a:t>micro-batch</a:t>
            </a:r>
            <a:endParaRPr lang="zh-TW" altLang="en-US" sz="1300">
              <a:solidFill>
                <a:srgbClr val="20262E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526059B2-0BC3-B12C-F2B3-88CFDC099000}"/>
              </a:ext>
            </a:extLst>
          </p:cNvPr>
          <p:cNvSpPr/>
          <p:nvPr/>
        </p:nvSpPr>
        <p:spPr>
          <a:xfrm>
            <a:off x="6134100" y="3683000"/>
            <a:ext cx="4064000" cy="609600"/>
          </a:xfrm>
          <a:prstGeom prst="roundRect">
            <a:avLst/>
          </a:prstGeom>
          <a:solidFill>
            <a:srgbClr val="2B5B9A"/>
          </a:solidFill>
          <a:ln w="12700">
            <a:solidFill>
              <a:srgbClr val="2B5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700" b="1">
                <a:solidFill>
                  <a:srgbClr val="FFFFFF"/>
                </a:solidFill>
                <a:latin typeface="Microsoft JhengHei" panose="020B0604030504040204" pitchFamily="34" charset="-120"/>
              </a:rPr>
              <a:t>跨團隊協作與技術交付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85A319DB-EFFE-DE75-0AB4-609444252FC7}"/>
              </a:ext>
            </a:extLst>
          </p:cNvPr>
          <p:cNvSpPr/>
          <p:nvPr/>
        </p:nvSpPr>
        <p:spPr>
          <a:xfrm>
            <a:off x="6134100" y="4343400"/>
            <a:ext cx="4064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300">
                <a:solidFill>
                  <a:srgbClr val="20262E"/>
                </a:solidFill>
                <a:latin typeface="Microsoft JhengHei" panose="020B0604030504040204" pitchFamily="34" charset="-120"/>
              </a:rPr>
              <a:t>需求對齊、來源確認、平台建置、資料交付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CBAF3BC-FDB7-0E43-1D88-CE99B6193967}"/>
              </a:ext>
            </a:extLst>
          </p:cNvPr>
          <p:cNvSpPr/>
          <p:nvPr/>
        </p:nvSpPr>
        <p:spPr>
          <a:xfrm>
            <a:off x="4572000" y="3149600"/>
            <a:ext cx="3048000" cy="558800"/>
          </a:xfrm>
          <a:prstGeom prst="roundRect">
            <a:avLst/>
          </a:prstGeom>
          <a:solidFill>
            <a:srgbClr val="E5F5EE"/>
          </a:solidFill>
          <a:ln w="12700">
            <a:solidFill>
              <a:srgbClr val="2C82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600" b="1">
                <a:solidFill>
                  <a:srgbClr val="2C825F"/>
                </a:solidFill>
                <a:latin typeface="Microsoft JhengHei" panose="020B0604030504040204" pitchFamily="34" charset="-120"/>
              </a:rPr>
              <a:t>資料工程師能力範圍</a:t>
            </a:r>
          </a:p>
        </p:txBody>
      </p:sp>
    </p:spTree>
    <p:extLst>
      <p:ext uri="{BB962C8B-B14F-4D97-AF65-F5344CB8AC3E}">
        <p14:creationId xmlns:p14="http://schemas.microsoft.com/office/powerpoint/2010/main" val="178020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3752BBB-0B22-E0EA-BAE9-4AEED7A10479}"/>
              </a:ext>
            </a:extLst>
          </p:cNvPr>
          <p:cNvSpPr txBox="1"/>
          <p:nvPr/>
        </p:nvSpPr>
        <p:spPr>
          <a:xfrm>
            <a:off x="558800" y="355600"/>
            <a:ext cx="3810000" cy="44114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TW" sz="2200" b="1">
                <a:solidFill>
                  <a:srgbClr val="183055"/>
                </a:solidFill>
                <a:latin typeface="Microsoft JhengHei" panose="020B0604030504040204" pitchFamily="34" charset="-120"/>
              </a:rPr>
              <a:t>P12</a:t>
            </a:r>
            <a:r>
              <a:rPr lang="zh-TW" altLang="en-US" sz="2200" b="1">
                <a:solidFill>
                  <a:srgbClr val="183055"/>
                </a:solidFill>
                <a:latin typeface="Microsoft JhengHei" panose="020B0604030504040204" pitchFamily="34" charset="-120"/>
              </a:rPr>
              <a:t>｜結尾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B02AB79-D117-51FC-7362-C8F29E9A85B7}"/>
              </a:ext>
            </a:extLst>
          </p:cNvPr>
          <p:cNvSpPr txBox="1"/>
          <p:nvPr/>
        </p:nvSpPr>
        <p:spPr>
          <a:xfrm>
            <a:off x="1143000" y="2095500"/>
            <a:ext cx="9906000" cy="52835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zh-TW" altLang="en-US" sz="2800" b="1">
                <a:solidFill>
                  <a:srgbClr val="183055"/>
                </a:solidFill>
                <a:latin typeface="Microsoft JhengHei" panose="020B0604030504040204" pitchFamily="34" charset="-120"/>
              </a:rPr>
              <a:t>我不只是將資料搬到資料庫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22290BD-988D-B349-82A2-91C6A651C573}"/>
              </a:ext>
            </a:extLst>
          </p:cNvPr>
          <p:cNvSpPr txBox="1"/>
          <p:nvPr/>
        </p:nvSpPr>
        <p:spPr>
          <a:xfrm>
            <a:off x="1587500" y="2857500"/>
            <a:ext cx="9017000" cy="77970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zh-TW" altLang="en-US" sz="2200">
                <a:solidFill>
                  <a:srgbClr val="20262E"/>
                </a:solidFill>
                <a:latin typeface="Microsoft JhengHei" panose="020B0604030504040204" pitchFamily="34" charset="-120"/>
              </a:rPr>
              <a:t>而是負責建立從資料來源、資料處理、資料治理到資料交付的完整資料供應鏈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E694260-3CD6-60C7-CC07-51D0E3C5CD65}"/>
              </a:ext>
            </a:extLst>
          </p:cNvPr>
          <p:cNvSpPr/>
          <p:nvPr/>
        </p:nvSpPr>
        <p:spPr>
          <a:xfrm>
            <a:off x="2260600" y="4445000"/>
            <a:ext cx="1422400" cy="48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300" b="1">
                <a:solidFill>
                  <a:srgbClr val="183055"/>
                </a:solidFill>
                <a:latin typeface="Microsoft JhengHei" panose="020B0604030504040204" pitchFamily="34" charset="-120"/>
              </a:rPr>
              <a:t>資料來源</a:t>
            </a: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92FB5F66-EF3E-A87C-7950-C6A818AE4E81}"/>
              </a:ext>
            </a:extLst>
          </p:cNvPr>
          <p:cNvCxnSpPr/>
          <p:nvPr/>
        </p:nvCxnSpPr>
        <p:spPr>
          <a:xfrm>
            <a:off x="3683000" y="4686300"/>
            <a:ext cx="533400" cy="0"/>
          </a:xfrm>
          <a:prstGeom prst="straightConnector1">
            <a:avLst/>
          </a:prstGeom>
          <a:ln w="25400">
            <a:solidFill>
              <a:srgbClr val="2B5B9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F54EE4A-99DC-6D2B-5A28-A675C3550690}"/>
              </a:ext>
            </a:extLst>
          </p:cNvPr>
          <p:cNvSpPr/>
          <p:nvPr/>
        </p:nvSpPr>
        <p:spPr>
          <a:xfrm>
            <a:off x="4241800" y="4445000"/>
            <a:ext cx="1422400" cy="48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300" b="1">
                <a:solidFill>
                  <a:srgbClr val="183055"/>
                </a:solidFill>
                <a:latin typeface="Microsoft JhengHei" panose="020B0604030504040204" pitchFamily="34" charset="-120"/>
              </a:rPr>
              <a:t>資料處理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0214B8DB-AAB7-29CA-23CC-C7B3343FBB79}"/>
              </a:ext>
            </a:extLst>
          </p:cNvPr>
          <p:cNvCxnSpPr/>
          <p:nvPr/>
        </p:nvCxnSpPr>
        <p:spPr>
          <a:xfrm>
            <a:off x="5664200" y="4686300"/>
            <a:ext cx="533400" cy="0"/>
          </a:xfrm>
          <a:prstGeom prst="straightConnector1">
            <a:avLst/>
          </a:prstGeom>
          <a:ln w="25400">
            <a:solidFill>
              <a:srgbClr val="2B5B9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E79179C-DC05-758E-0DD0-0F9993F4C5D0}"/>
              </a:ext>
            </a:extLst>
          </p:cNvPr>
          <p:cNvSpPr/>
          <p:nvPr/>
        </p:nvSpPr>
        <p:spPr>
          <a:xfrm>
            <a:off x="6223000" y="4445000"/>
            <a:ext cx="1422400" cy="48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300" b="1">
                <a:solidFill>
                  <a:srgbClr val="183055"/>
                </a:solidFill>
                <a:latin typeface="Microsoft JhengHei" panose="020B0604030504040204" pitchFamily="34" charset="-120"/>
              </a:rPr>
              <a:t>資料治理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66F1D7EB-D737-E37E-5273-E2DE76EE8B03}"/>
              </a:ext>
            </a:extLst>
          </p:cNvPr>
          <p:cNvCxnSpPr/>
          <p:nvPr/>
        </p:nvCxnSpPr>
        <p:spPr>
          <a:xfrm>
            <a:off x="7645400" y="4686300"/>
            <a:ext cx="533400" cy="0"/>
          </a:xfrm>
          <a:prstGeom prst="straightConnector1">
            <a:avLst/>
          </a:prstGeom>
          <a:ln w="25400">
            <a:solidFill>
              <a:srgbClr val="2B5B9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35E25523-5A33-576E-02F4-5C50C6CFF5E6}"/>
              </a:ext>
            </a:extLst>
          </p:cNvPr>
          <p:cNvSpPr/>
          <p:nvPr/>
        </p:nvSpPr>
        <p:spPr>
          <a:xfrm>
            <a:off x="8204200" y="4445000"/>
            <a:ext cx="1422400" cy="48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zh-TW" altLang="en-US" sz="1300" b="1">
                <a:solidFill>
                  <a:srgbClr val="183055"/>
                </a:solidFill>
                <a:latin typeface="Microsoft JhengHei" panose="020B0604030504040204" pitchFamily="34" charset="-120"/>
              </a:rPr>
              <a:t>資料交付</a:t>
            </a:r>
          </a:p>
        </p:txBody>
      </p:sp>
    </p:spTree>
    <p:extLst>
      <p:ext uri="{BB962C8B-B14F-4D97-AF65-F5344CB8AC3E}">
        <p14:creationId xmlns:p14="http://schemas.microsoft.com/office/powerpoint/2010/main" val="1011149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1480</Words>
  <Application>Microsoft Office PowerPoint</Application>
  <PresentationFormat>自訂</PresentationFormat>
  <Paragraphs>163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Microsoft JhengHei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ALBEE.LAI 賴詩涵</dc:creator>
  <cp:lastModifiedBy>ALBEE.LAI 賴詩涵</cp:lastModifiedBy>
  <cp:revision>1</cp:revision>
  <dcterms:created xsi:type="dcterms:W3CDTF">2026-09-03T06:37:08Z</dcterms:created>
  <dcterms:modified xsi:type="dcterms:W3CDTF">2026-09-03T06:37:08Z</dcterms:modified>
</cp:coreProperties>
</file>